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52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F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f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95144"/>
            <a:ext cx="1051560" cy="1227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57400" y="868680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</a:rPr>
              <a:t>Електротехнички факултет</a:t>
            </a:r>
          </a:p>
          <a:p>
            <a:pPr>
              <a:spcBef>
                <a:spcPts val="200"/>
              </a:spcBef>
              <a:buNone/>
            </a:pPr>
            <a:r>
              <a:rPr sz="1500" b="0">
                <a:solidFill>
                  <a:srgbClr val="C6D2E6"/>
                </a:solidFill>
                <a:latin typeface="Arial"/>
              </a:rPr>
              <a:t>Универзитет у Београду</a:t>
            </a:r>
          </a:p>
          <a:p>
            <a:pPr>
              <a:spcBef>
                <a:spcPts val="1200"/>
              </a:spcBef>
              <a:buNone/>
            </a:pPr>
            <a:r>
              <a:rPr sz="1300" b="1">
                <a:solidFill>
                  <a:srgbClr val="FF9700"/>
                </a:solidFill>
                <a:latin typeface="Arial"/>
              </a:rPr>
              <a:t>Дипломски рад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0584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buNone/>
            </a:pPr>
            <a:r>
              <a:rPr sz="4400" b="1">
                <a:solidFill>
                  <a:srgbClr val="FFFFFF"/>
                </a:solidFill>
                <a:latin typeface="Arial"/>
              </a:rPr>
              <a:t>Мобилна апликација за</a:t>
            </a:r>
          </a:p>
          <a:p>
            <a:pPr>
              <a:lnSpc>
                <a:spcPct val="105000"/>
              </a:lnSpc>
              <a:spcBef>
                <a:spcPts val="0"/>
              </a:spcBef>
              <a:buNone/>
            </a:pPr>
            <a:r>
              <a:rPr sz="4400" b="1">
                <a:solidFill>
                  <a:srgbClr val="FFFFFF"/>
                </a:solidFill>
                <a:latin typeface="Arial"/>
              </a:rPr>
              <a:t>праћење и унапређење фокуса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434840"/>
            <a:ext cx="1463040" cy="38100"/>
          </a:xfrm>
          <a:prstGeom prst="rect">
            <a:avLst/>
          </a:prstGeom>
          <a:solidFill>
            <a:srgbClr val="FF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800600"/>
            <a:ext cx="5486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200" b="1">
                <a:solidFill>
                  <a:srgbClr val="FF9700"/>
                </a:solidFill>
                <a:latin typeface="Arial"/>
              </a:rPr>
              <a:t>Кандидат</a:t>
            </a:r>
          </a:p>
          <a:p>
            <a:pPr>
              <a:spcBef>
                <a:spcPts val="300"/>
              </a:spcBef>
              <a:buNone/>
            </a:pPr>
            <a:r>
              <a:rPr sz="1900" b="0">
                <a:solidFill>
                  <a:srgbClr val="FFFFFF"/>
                </a:solidFill>
                <a:latin typeface="Arial"/>
              </a:rPr>
              <a:t>Душан Грабовић, 2022/0099</a:t>
            </a:r>
          </a:p>
          <a:p>
            <a:pPr>
              <a:spcBef>
                <a:spcPts val="1400"/>
              </a:spcBef>
              <a:buNone/>
            </a:pPr>
            <a:r>
              <a:rPr sz="1200" b="1">
                <a:solidFill>
                  <a:srgbClr val="FF9700"/>
                </a:solidFill>
                <a:latin typeface="Arial"/>
              </a:rPr>
              <a:t>Ментор</a:t>
            </a:r>
          </a:p>
          <a:p>
            <a:pPr>
              <a:spcBef>
                <a:spcPts val="300"/>
              </a:spcBef>
              <a:buNone/>
            </a:pPr>
            <a:r>
              <a:rPr sz="1900" b="0">
                <a:solidFill>
                  <a:srgbClr val="FFFFFF"/>
                </a:solidFill>
                <a:latin typeface="Arial"/>
              </a:rPr>
              <a:t>проф. др Захарије Радивојевић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8295" y="5806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buNone/>
            </a:pPr>
            <a:r>
              <a:rPr sz="1500" b="0">
                <a:solidFill>
                  <a:srgbClr val="C6D2E6"/>
                </a:solidFill>
                <a:latin typeface="Arial"/>
              </a:rPr>
              <a:t>Београд, септембар 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3000" b="1">
                <a:solidFill>
                  <a:srgbClr val="3E5278"/>
                </a:solidFill>
                <a:latin typeface="Arial"/>
              </a:rPr>
              <a:t>Садржај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98448"/>
            <a:ext cx="1005840" cy="38100"/>
          </a:xfrm>
          <a:prstGeom prst="rect">
            <a:avLst/>
          </a:prstGeom>
          <a:solidFill>
            <a:srgbClr val="CC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73152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9400" indent="-279400">
              <a:lnSpc>
                <a:spcPct val="105000"/>
              </a:lnSpc>
              <a:spcBef>
                <a:spcPts val="0"/>
              </a:spcBef>
              <a:buClr>
                <a:srgbClr val="CC4400"/>
              </a:buClr>
              <a:buFont typeface="Arial"/>
              <a:buChar char="▪"/>
            </a:pPr>
            <a:r>
              <a:rPr sz="2200" b="0">
                <a:solidFill>
                  <a:srgbClr val="3E5278"/>
                </a:solidFill>
                <a:latin typeface="Arial"/>
              </a:rPr>
              <a:t>Мотивација и постојећа решења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CC4400"/>
              </a:buClr>
              <a:buFont typeface="Arial"/>
              <a:buChar char="▪"/>
            </a:pPr>
            <a:r>
              <a:rPr sz="2200" b="0">
                <a:solidFill>
                  <a:srgbClr val="3E5278"/>
                </a:solidFill>
                <a:latin typeface="Arial"/>
              </a:rPr>
              <a:t>Предложено решење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CC4400"/>
              </a:buClr>
              <a:buFont typeface="Arial"/>
              <a:buChar char="▪"/>
            </a:pPr>
            <a:r>
              <a:rPr sz="2200" b="0">
                <a:solidFill>
                  <a:srgbClr val="3E5278"/>
                </a:solidFill>
                <a:latin typeface="Arial"/>
              </a:rPr>
              <a:t>Архитектура и коришћене технологије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CC4400"/>
              </a:buClr>
              <a:buFont typeface="Arial"/>
              <a:buChar char="▪"/>
            </a:pPr>
            <a:r>
              <a:rPr sz="2200" b="0">
                <a:solidFill>
                  <a:srgbClr val="3E5278"/>
                </a:solidFill>
                <a:latin typeface="Arial"/>
              </a:rPr>
              <a:t>Ток сесије и праћење услова окружења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CC4400"/>
              </a:buClr>
              <a:buFont typeface="Arial"/>
              <a:buChar char="▪"/>
            </a:pPr>
            <a:r>
              <a:rPr sz="2200" b="0">
                <a:solidFill>
                  <a:srgbClr val="3E5278"/>
                </a:solidFill>
                <a:latin typeface="Arial"/>
              </a:rPr>
              <a:t>Оцењивање сесије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CC4400"/>
              </a:buClr>
              <a:buFont typeface="Arial"/>
              <a:buChar char="▪"/>
            </a:pPr>
            <a:r>
              <a:rPr sz="2200" b="0">
                <a:solidFill>
                  <a:srgbClr val="3E5278"/>
                </a:solidFill>
                <a:latin typeface="Arial"/>
              </a:rPr>
              <a:t>Тестирање и верификација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CC4400"/>
              </a:buClr>
              <a:buFont typeface="Arial"/>
              <a:buChar char="▪"/>
            </a:pPr>
            <a:r>
              <a:rPr sz="2200" b="0">
                <a:solidFill>
                  <a:srgbClr val="3E5278"/>
                </a:solidFill>
                <a:latin typeface="Arial"/>
              </a:rPr>
              <a:t>Закључак и даљи рад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buNone/>
            </a:pPr>
            <a:r>
              <a:rPr sz="1100" b="0">
                <a:solidFill>
                  <a:srgbClr val="8A94A3"/>
                </a:solidFill>
                <a:latin typeface="Arial"/>
              </a:rP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200" b="1">
                <a:solidFill>
                  <a:srgbClr val="CC4400"/>
                </a:solidFill>
                <a:latin typeface="Arial"/>
              </a:rPr>
              <a:t>МОТИВАЦИЈА</a:t>
            </a:r>
          </a:p>
          <a:p>
            <a:pPr>
              <a:spcBef>
                <a:spcPts val="400"/>
              </a:spcBef>
              <a:buNone/>
            </a:pPr>
            <a:r>
              <a:rPr sz="3000" b="1">
                <a:solidFill>
                  <a:srgbClr val="3E5278"/>
                </a:solidFill>
                <a:latin typeface="Arial"/>
              </a:rPr>
              <a:t>Проблем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98448"/>
            <a:ext cx="1005840" cy="38100"/>
          </a:xfrm>
          <a:prstGeom prst="rect">
            <a:avLst/>
          </a:prstGeom>
          <a:solidFill>
            <a:srgbClr val="CC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7899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9400" indent="-279400">
              <a:lnSpc>
                <a:spcPct val="105000"/>
              </a:lnSpc>
              <a:spcBef>
                <a:spcPts val="0"/>
              </a:spcBef>
              <a:buClr>
                <a:srgbClr val="CC4400"/>
              </a:buClr>
              <a:buFont typeface="Arial"/>
              <a:buChar char="▪"/>
            </a:pPr>
            <a:r>
              <a:rPr sz="1900" b="0">
                <a:solidFill>
                  <a:srgbClr val="3E5278"/>
                </a:solidFill>
                <a:latin typeface="Arial"/>
              </a:rPr>
              <a:t>Прекид кошта више од времена које траје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8A94A3"/>
              </a:buClr>
              <a:buFont typeface="Arial"/>
              <a:buChar char="–"/>
            </a:pPr>
            <a:r>
              <a:rPr sz="1500" b="0">
                <a:solidFill>
                  <a:srgbClr val="5A6676"/>
                </a:solidFill>
                <a:latin typeface="Arial"/>
              </a:rPr>
              <a:t>повратак на задатак тражи знатно дуже од самог прекида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CC4400"/>
              </a:buClr>
              <a:buFont typeface="Arial"/>
              <a:buChar char="▪"/>
            </a:pPr>
            <a:r>
              <a:rPr sz="1900" b="0">
                <a:solidFill>
                  <a:srgbClr val="3E5278"/>
                </a:solidFill>
                <a:latin typeface="Arial"/>
              </a:rPr>
              <a:t>На фокус утиче и просторија, не само садржај на екрану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8A94A3"/>
              </a:buClr>
              <a:buFont typeface="Arial"/>
              <a:buChar char="–"/>
            </a:pPr>
            <a:r>
              <a:rPr sz="1500" b="0">
                <a:solidFill>
                  <a:srgbClr val="5A6676"/>
                </a:solidFill>
                <a:latin typeface="Arial"/>
              </a:rPr>
              <a:t>осветљење, бука и руковање телефоном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CC4400"/>
              </a:buClr>
              <a:buFont typeface="Arial"/>
              <a:buChar char="▪"/>
            </a:pPr>
            <a:r>
              <a:rPr sz="1900" b="0">
                <a:solidFill>
                  <a:srgbClr val="3E5278"/>
                </a:solidFill>
                <a:latin typeface="Arial"/>
              </a:rPr>
              <a:t>Постојећа решења блокирају, али не мере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8A94A3"/>
              </a:buClr>
              <a:buFont typeface="Arial"/>
              <a:buChar char="–"/>
            </a:pPr>
            <a:r>
              <a:rPr sz="1500" b="0">
                <a:solidFill>
                  <a:srgbClr val="5A6676"/>
                </a:solidFill>
                <a:latin typeface="Arial"/>
              </a:rPr>
              <a:t>услови у којима је рад обављен нигде се не бележе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CC4400"/>
              </a:buClr>
              <a:buFont typeface="Arial"/>
              <a:buChar char="▪"/>
            </a:pPr>
            <a:r>
              <a:rPr sz="1900" b="0">
                <a:solidFill>
                  <a:srgbClr val="3E5278"/>
                </a:solidFill>
                <a:latin typeface="Arial"/>
              </a:rPr>
              <a:t>После сесије изостаје повратна информација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8A94A3"/>
              </a:buClr>
              <a:buFont typeface="Arial"/>
              <a:buChar char="–"/>
            </a:pPr>
            <a:r>
              <a:rPr sz="1500" b="0">
                <a:solidFill>
                  <a:srgbClr val="5A6676"/>
                </a:solidFill>
                <a:latin typeface="Arial"/>
              </a:rPr>
              <a:t>„колико сам заиста радио” остаје без одговора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buNone/>
            </a:pPr>
            <a:r>
              <a:rPr sz="1100" b="0">
                <a:solidFill>
                  <a:srgbClr val="8A94A3"/>
                </a:solidFill>
                <a:latin typeface="Arial"/>
              </a:rP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200" b="1">
                <a:solidFill>
                  <a:srgbClr val="CC4400"/>
                </a:solidFill>
                <a:latin typeface="Arial"/>
              </a:rPr>
              <a:t>ПРЕГЛЕД</a:t>
            </a:r>
          </a:p>
          <a:p>
            <a:pPr>
              <a:spcBef>
                <a:spcPts val="400"/>
              </a:spcBef>
              <a:buNone/>
            </a:pPr>
            <a:r>
              <a:rPr sz="3000" b="1">
                <a:solidFill>
                  <a:srgbClr val="3E5278"/>
                </a:solidFill>
                <a:latin typeface="Arial"/>
              </a:rPr>
              <a:t>Постојећа решења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98448"/>
            <a:ext cx="1005840" cy="38100"/>
          </a:xfrm>
          <a:prstGeom prst="rect">
            <a:avLst/>
          </a:prstGeom>
          <a:solidFill>
            <a:srgbClr val="CC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91640"/>
          <a:ext cx="10515600" cy="3931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1760"/>
                <a:gridCol w="1572768"/>
                <a:gridCol w="1572768"/>
                <a:gridCol w="1572768"/>
                <a:gridCol w="1572768"/>
                <a:gridCol w="1572768"/>
              </a:tblGrid>
              <a:tr h="39319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3E5278"/>
                          </a:solidFill>
                          <a:latin typeface="Arial"/>
                        </a:rPr>
                        <a:t>Решење</a:t>
                      </a:r>
                    </a:p>
                  </a:txBody>
                  <a:tcPr marL="76200" marR="76200" marT="25400" marB="25400" anchor="ctr">
                    <a:solidFill>
                      <a:srgbClr val="E8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3E5278"/>
                          </a:solidFill>
                          <a:latin typeface="Arial"/>
                        </a:rPr>
                        <a:t>мобилна
платформа</a:t>
                      </a:r>
                    </a:p>
                  </a:txBody>
                  <a:tcPr marL="76200" marR="76200" marT="25400" marB="25400" anchor="ctr">
                    <a:solidFill>
                      <a:srgbClr val="E8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3E5278"/>
                          </a:solidFill>
                          <a:latin typeface="Arial"/>
                        </a:rPr>
                        <a:t>сензори
окружења</a:t>
                      </a:r>
                    </a:p>
                  </a:txBody>
                  <a:tcPr marL="76200" marR="76200" marT="25400" marB="25400" anchor="ctr">
                    <a:solidFill>
                      <a:srgbClr val="E8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3E5278"/>
                          </a:solidFill>
                          <a:latin typeface="Arial"/>
                        </a:rPr>
                        <a:t>оцена по
сесији</a:t>
                      </a:r>
                    </a:p>
                  </a:txBody>
                  <a:tcPr marL="76200" marR="76200" marT="25400" marB="25400" anchor="ctr">
                    <a:solidFill>
                      <a:srgbClr val="E8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3E5278"/>
                          </a:solidFill>
                          <a:latin typeface="Arial"/>
                        </a:rPr>
                        <a:t>објављено
мерило</a:t>
                      </a:r>
                    </a:p>
                  </a:txBody>
                  <a:tcPr marL="76200" marR="76200" marT="25400" marB="25400" anchor="ctr">
                    <a:solidFill>
                      <a:srgbClr val="E8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3E5278"/>
                          </a:solidFill>
                          <a:latin typeface="Arial"/>
                        </a:rPr>
                        <a:t>разликовање
пауза</a:t>
                      </a:r>
                    </a:p>
                  </a:txBody>
                  <a:tcPr marL="76200" marR="76200" marT="25400" marB="25400" anchor="ctr">
                    <a:solidFill>
                      <a:srgbClr val="E8ECF3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3E5278"/>
                          </a:solidFill>
                          <a:latin typeface="Arial"/>
                        </a:rPr>
                        <a:t>Forest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3E5278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A8B2C0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A8B2C0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A8B2C0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A8B2C0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3E5278"/>
                          </a:solidFill>
                          <a:latin typeface="Arial"/>
                        </a:rPr>
                        <a:t>Freedom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3E5278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A8B2C0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A8B2C0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A8B2C0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A8B2C0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3E5278"/>
                          </a:solidFill>
                          <a:latin typeface="Arial"/>
                        </a:rPr>
                        <a:t>Digital Wellbeing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3E5278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A8B2C0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A8B2C0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A8B2C0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A8B2C0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3E5278"/>
                          </a:solidFill>
                          <a:latin typeface="Arial"/>
                        </a:rPr>
                        <a:t>Opal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3E5278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A8B2C0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A8B2C0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3E5278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A8B2C0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3E5278"/>
                          </a:solidFill>
                          <a:latin typeface="Arial"/>
                        </a:rPr>
                        <a:t>Rize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A8B2C0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A8B2C0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A8B2C0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A8B2C0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A8B2C0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3E5278"/>
                          </a:solidFill>
                          <a:latin typeface="Arial"/>
                        </a:rPr>
                        <a:t>Endel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3E5278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3E5278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A8B2C0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A8B2C0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A8B2C0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3E5278"/>
                          </a:solidFill>
                          <a:latin typeface="Arial"/>
                        </a:rPr>
                        <a:t>FocusCalm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3E5278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A8B2C0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3E5278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A8B2C0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A8B2C0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3E5278"/>
                          </a:solidFill>
                          <a:latin typeface="Arial"/>
                        </a:rPr>
                        <a:t>Focusito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3E5278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A8B2C0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3E5278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A8B2C0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A8B2C0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CC4400"/>
                          </a:solidFill>
                          <a:latin typeface="Arial"/>
                        </a:rPr>
                        <a:t>Focus Guard</a:t>
                      </a:r>
                    </a:p>
                  </a:txBody>
                  <a:tcPr marL="76200" marR="76200" marT="25400" marB="25400" anchor="ctr">
                    <a:solidFill>
                      <a:srgbClr val="FD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1E8E3E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marL="76200" marR="76200" marT="25400" marB="25400" anchor="ctr">
                    <a:solidFill>
                      <a:srgbClr val="FD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1E8E3E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marL="76200" marR="76200" marT="25400" marB="25400" anchor="ctr">
                    <a:solidFill>
                      <a:srgbClr val="FD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1E8E3E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marL="76200" marR="76200" marT="25400" marB="25400" anchor="ctr">
                    <a:solidFill>
                      <a:srgbClr val="FD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1E8E3E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marL="76200" marR="76200" marT="25400" marB="25400" anchor="ctr">
                    <a:solidFill>
                      <a:srgbClr val="FD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1E8E3E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marL="76200" marR="76200" marT="25400" marB="25400" anchor="ctr">
                    <a:solidFill>
                      <a:srgbClr val="FDEBD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89788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500" b="0">
                <a:solidFill>
                  <a:srgbClr val="CC4400"/>
                </a:solidFill>
                <a:latin typeface="Arial"/>
              </a:rPr>
              <a:t>Ниједно разматрано решење не спаја мерење услова рада са оценом обављене сесије.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buNone/>
            </a:pPr>
            <a:r>
              <a:rPr sz="1100" b="0">
                <a:solidFill>
                  <a:srgbClr val="8A94A3"/>
                </a:solidFill>
                <a:latin typeface="Arial"/>
              </a:rP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200" b="1">
                <a:solidFill>
                  <a:srgbClr val="CC4400"/>
                </a:solidFill>
                <a:latin typeface="Arial"/>
              </a:rPr>
              <a:t>ПРЕДЛОЖЕНО РЕШЕЊЕ</a:t>
            </a:r>
          </a:p>
          <a:p>
            <a:pPr>
              <a:spcBef>
                <a:spcPts val="400"/>
              </a:spcBef>
              <a:buNone/>
            </a:pPr>
            <a:r>
              <a:rPr sz="3000" b="1">
                <a:solidFill>
                  <a:srgbClr val="3E5278"/>
                </a:solidFill>
                <a:latin typeface="Arial"/>
              </a:rPr>
              <a:t>Шта апликација ради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98448"/>
            <a:ext cx="1005840" cy="38100"/>
          </a:xfrm>
          <a:prstGeom prst="rect">
            <a:avLst/>
          </a:prstGeom>
          <a:solidFill>
            <a:srgbClr val="CC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73152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9400" indent="-279400">
              <a:lnSpc>
                <a:spcPct val="105000"/>
              </a:lnSpc>
              <a:spcBef>
                <a:spcPts val="0"/>
              </a:spcBef>
              <a:buClr>
                <a:srgbClr val="CC4400"/>
              </a:buClr>
              <a:buFont typeface="Arial"/>
              <a:buChar char="▪"/>
            </a:pPr>
            <a:r>
              <a:rPr sz="1900" b="0">
                <a:solidFill>
                  <a:srgbClr val="3E5278"/>
                </a:solidFill>
                <a:latin typeface="Arial"/>
              </a:rPr>
              <a:t>Сесија са задатим циљем и планираним паузама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CC4400"/>
              </a:buClr>
              <a:buFont typeface="Arial"/>
              <a:buChar char="▪"/>
            </a:pPr>
            <a:r>
              <a:rPr sz="1900" b="0">
                <a:solidFill>
                  <a:srgbClr val="3E5278"/>
                </a:solidFill>
                <a:latin typeface="Arial"/>
              </a:rPr>
              <a:t>Мерење услова током рада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8A94A3"/>
              </a:buClr>
              <a:buFont typeface="Arial"/>
              <a:buChar char="–"/>
            </a:pPr>
            <a:r>
              <a:rPr sz="1500" b="0">
                <a:solidFill>
                  <a:srgbClr val="5A6676"/>
                </a:solidFill>
                <a:latin typeface="Arial"/>
              </a:rPr>
              <a:t>осветљење, бука и руковање телефоном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CC4400"/>
              </a:buClr>
              <a:buFont typeface="Arial"/>
              <a:buChar char="▪"/>
            </a:pPr>
            <a:r>
              <a:rPr sz="1900" b="0">
                <a:solidFill>
                  <a:srgbClr val="3E5278"/>
                </a:solidFill>
                <a:latin typeface="Arial"/>
              </a:rPr>
              <a:t>Упозорење у тренутку кад услов попусти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8A94A3"/>
              </a:buClr>
              <a:buFont typeface="Arial"/>
              <a:buChar char="–"/>
            </a:pPr>
            <a:r>
              <a:rPr sz="1500" b="0">
                <a:solidFill>
                  <a:srgbClr val="5A6676"/>
                </a:solidFill>
                <a:latin typeface="Arial"/>
              </a:rPr>
              <a:t>а не тек у извештају на крају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CC4400"/>
              </a:buClr>
              <a:buFont typeface="Arial"/>
              <a:buChar char="▪"/>
            </a:pPr>
            <a:r>
              <a:rPr sz="1900" b="0">
                <a:solidFill>
                  <a:srgbClr val="3E5278"/>
                </a:solidFill>
                <a:latin typeface="Arial"/>
              </a:rPr>
              <a:t>Оцена сесије од 0 до 100 са образложењем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8A94A3"/>
              </a:buClr>
              <a:buFont typeface="Arial"/>
              <a:buChar char="–"/>
            </a:pPr>
            <a:r>
              <a:rPr sz="1500" b="0">
                <a:solidFill>
                  <a:srgbClr val="5A6676"/>
                </a:solidFill>
                <a:latin typeface="Arial"/>
              </a:rPr>
              <a:t>оцењује се и окружење, не само истрајано време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CC4400"/>
              </a:buClr>
              <a:buFont typeface="Arial"/>
              <a:buChar char="▪"/>
            </a:pPr>
            <a:r>
              <a:rPr sz="1900" b="0">
                <a:solidFill>
                  <a:srgbClr val="3E5278"/>
                </a:solidFill>
                <a:latin typeface="Arial"/>
              </a:rPr>
              <a:t>Историја, просеци по темама и извештај</a:t>
            </a:r>
          </a:p>
        </p:txBody>
      </p:sp>
      <p:sp>
        <p:nvSpPr>
          <p:cNvPr id="5" name="Rectangle 4"/>
          <p:cNvSpPr/>
          <p:nvPr/>
        </p:nvSpPr>
        <p:spPr>
          <a:xfrm>
            <a:off x="8793270" y="1478280"/>
            <a:ext cx="2255939" cy="4724400"/>
          </a:xfrm>
          <a:prstGeom prst="rect">
            <a:avLst/>
          </a:prstGeom>
          <a:solidFill>
            <a:srgbClr val="F2F4F8"/>
          </a:solidFill>
          <a:ln w="9525">
            <a:solidFill>
              <a:srgbClr val="C6D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54-sesija-u-tok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470" y="1554480"/>
            <a:ext cx="2103539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buNone/>
            </a:pPr>
            <a:r>
              <a:rPr sz="1100" b="0">
                <a:solidFill>
                  <a:srgbClr val="8A94A3"/>
                </a:solidFill>
                <a:latin typeface="Arial"/>
              </a:rP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200" b="1">
                <a:solidFill>
                  <a:srgbClr val="CC4400"/>
                </a:solidFill>
                <a:latin typeface="Arial"/>
              </a:rPr>
              <a:t>РЕШЕЊЕ</a:t>
            </a:r>
          </a:p>
          <a:p>
            <a:pPr>
              <a:spcBef>
                <a:spcPts val="400"/>
              </a:spcBef>
              <a:buNone/>
            </a:pPr>
            <a:r>
              <a:rPr sz="3000" b="1">
                <a:solidFill>
                  <a:srgbClr val="3E5278"/>
                </a:solidFill>
                <a:latin typeface="Arial"/>
              </a:rPr>
              <a:t>Архитектура и технологије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98448"/>
            <a:ext cx="1005840" cy="38100"/>
          </a:xfrm>
          <a:prstGeom prst="rect">
            <a:avLst/>
          </a:prstGeom>
          <a:solidFill>
            <a:srgbClr val="CC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592580"/>
            <a:ext cx="7101840" cy="4495800"/>
          </a:xfrm>
          <a:prstGeom prst="rect">
            <a:avLst/>
          </a:prstGeom>
          <a:solidFill>
            <a:srgbClr val="F2F4F8"/>
          </a:solidFill>
          <a:ln w="9525">
            <a:solidFill>
              <a:srgbClr val="C6D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jagram-arhitek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68780"/>
            <a:ext cx="6949440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0" y="1783080"/>
            <a:ext cx="3566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9400" indent="-279400">
              <a:lnSpc>
                <a:spcPct val="105000"/>
              </a:lnSpc>
              <a:spcBef>
                <a:spcPts val="0"/>
              </a:spcBef>
              <a:buClr>
                <a:srgbClr val="CC4400"/>
              </a:buClr>
              <a:buFont typeface="Arial"/>
              <a:buChar char="▪"/>
            </a:pPr>
            <a:r>
              <a:rPr sz="1700" b="0">
                <a:solidFill>
                  <a:srgbClr val="3E5278"/>
                </a:solidFill>
                <a:latin typeface="Arial"/>
              </a:rPr>
              <a:t>Kotlin и Jetpack Compose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CC4400"/>
              </a:buClr>
              <a:buFont typeface="Arial"/>
              <a:buChar char="▪"/>
            </a:pPr>
            <a:r>
              <a:rPr sz="1700" b="0">
                <a:solidFill>
                  <a:srgbClr val="3E5278"/>
                </a:solidFill>
                <a:latin typeface="Arial"/>
              </a:rPr>
              <a:t>Hilt, Room и Retrofit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CC4400"/>
              </a:buClr>
              <a:buFont typeface="Arial"/>
              <a:buChar char="▪"/>
            </a:pPr>
            <a:r>
              <a:rPr sz="1700" b="0">
                <a:solidFill>
                  <a:srgbClr val="3E5278"/>
                </a:solidFill>
                <a:latin typeface="Arial"/>
              </a:rPr>
              <a:t>Сесију води сервис у предњем плану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8A94A3"/>
              </a:buClr>
              <a:buFont typeface="Arial"/>
              <a:buChar char="–"/>
            </a:pPr>
            <a:r>
              <a:rPr sz="1300" b="0">
                <a:solidFill>
                  <a:srgbClr val="5A6676"/>
                </a:solidFill>
                <a:latin typeface="Arial"/>
              </a:rPr>
              <a:t>рад се наставља и кад се апликација напусти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CC4400"/>
              </a:buClr>
              <a:buFont typeface="Arial"/>
              <a:buChar char="▪"/>
            </a:pPr>
            <a:r>
              <a:rPr sz="1700" b="0">
                <a:solidFill>
                  <a:srgbClr val="3E5278"/>
                </a:solidFill>
                <a:latin typeface="Arial"/>
              </a:rPr>
              <a:t>Стање се изводи из временских ознака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8A94A3"/>
              </a:buClr>
              <a:buFont typeface="Arial"/>
              <a:buChar char="–"/>
            </a:pPr>
            <a:r>
              <a:rPr sz="1300" b="0">
                <a:solidFill>
                  <a:srgbClr val="5A6676"/>
                </a:solidFill>
                <a:latin typeface="Arial"/>
              </a:rPr>
              <a:t>изостанак откуцаја не помера сат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buNone/>
            </a:pPr>
            <a:r>
              <a:rPr sz="1100" b="0">
                <a:solidFill>
                  <a:srgbClr val="8A94A3"/>
                </a:solidFill>
                <a:latin typeface="Arial"/>
              </a:rP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200" b="1">
                <a:solidFill>
                  <a:srgbClr val="CC4400"/>
                </a:solidFill>
                <a:latin typeface="Arial"/>
              </a:rPr>
              <a:t>ФУНКЦИОНАЛНОСТИ</a:t>
            </a:r>
          </a:p>
          <a:p>
            <a:pPr>
              <a:spcBef>
                <a:spcPts val="400"/>
              </a:spcBef>
              <a:buNone/>
            </a:pPr>
            <a:r>
              <a:rPr sz="3000" b="1">
                <a:solidFill>
                  <a:srgbClr val="3E5278"/>
                </a:solidFill>
                <a:latin typeface="Arial"/>
              </a:rPr>
              <a:t>Ток сесије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98448"/>
            <a:ext cx="1005840" cy="38100"/>
          </a:xfrm>
          <a:prstGeom prst="rect">
            <a:avLst/>
          </a:prstGeom>
          <a:solidFill>
            <a:srgbClr val="CC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00203" y="1524000"/>
            <a:ext cx="1645913" cy="3398520"/>
          </a:xfrm>
          <a:prstGeom prst="rect">
            <a:avLst/>
          </a:prstGeom>
          <a:solidFill>
            <a:srgbClr val="F2F4F8"/>
          </a:solidFill>
          <a:ln w="9525">
            <a:solidFill>
              <a:srgbClr val="C6D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54-sesija-u-tok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3" y="1600200"/>
            <a:ext cx="1493513" cy="324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502920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700" b="1">
                <a:solidFill>
                  <a:srgbClr val="CC4400"/>
                </a:solidFill>
                <a:latin typeface="Arial"/>
              </a:rPr>
              <a:t>рад у току</a:t>
            </a:r>
          </a:p>
          <a:p>
            <a:pPr algn="ctr">
              <a:lnSpc>
                <a:spcPct val="110000"/>
              </a:lnSpc>
              <a:spcBef>
                <a:spcPts val="500"/>
              </a:spcBef>
              <a:buNone/>
            </a:pPr>
            <a:r>
              <a:rPr sz="1400" b="0">
                <a:solidFill>
                  <a:srgbClr val="5A6676"/>
                </a:solidFill>
                <a:latin typeface="Arial"/>
              </a:rPr>
              <a:t>циљ и време до следеће паузе стално су видљиви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3" y="1524000"/>
            <a:ext cx="1645913" cy="3398520"/>
          </a:xfrm>
          <a:prstGeom prst="rect">
            <a:avLst/>
          </a:prstGeom>
          <a:solidFill>
            <a:srgbClr val="F2F4F8"/>
          </a:solidFill>
          <a:ln w="9525">
            <a:solidFill>
              <a:srgbClr val="C6D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56-pauza-planira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843" y="1600200"/>
            <a:ext cx="1493513" cy="3246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89120" y="502920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700" b="1">
                <a:solidFill>
                  <a:srgbClr val="CC4400"/>
                </a:solidFill>
                <a:latin typeface="Arial"/>
              </a:rPr>
              <a:t>планирана пауза</a:t>
            </a:r>
          </a:p>
          <a:p>
            <a:pPr algn="ctr">
              <a:lnSpc>
                <a:spcPct val="110000"/>
              </a:lnSpc>
              <a:spcBef>
                <a:spcPts val="500"/>
              </a:spcBef>
              <a:buNone/>
            </a:pPr>
            <a:r>
              <a:rPr sz="1400" b="0">
                <a:solidFill>
                  <a:srgbClr val="5A6676"/>
                </a:solidFill>
                <a:latin typeface="Arial"/>
              </a:rPr>
              <a:t>паузе су распоређене равномерно, на циљ/(n+1)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41083" y="1524000"/>
            <a:ext cx="1645913" cy="3398520"/>
          </a:xfrm>
          <a:prstGeom prst="rect">
            <a:avLst/>
          </a:prstGeom>
          <a:solidFill>
            <a:srgbClr val="F2F4F8"/>
          </a:solidFill>
          <a:ln w="9525">
            <a:solidFill>
              <a:srgbClr val="C6D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54-prekoracenj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7283" y="1600200"/>
            <a:ext cx="1493513" cy="3246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09560" y="502920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700" b="1">
                <a:solidFill>
                  <a:srgbClr val="CC4400"/>
                </a:solidFill>
                <a:latin typeface="Arial"/>
              </a:rPr>
              <a:t>прекорачење циља</a:t>
            </a:r>
          </a:p>
          <a:p>
            <a:pPr algn="ctr">
              <a:lnSpc>
                <a:spcPct val="110000"/>
              </a:lnSpc>
              <a:spcBef>
                <a:spcPts val="500"/>
              </a:spcBef>
              <a:buNone/>
            </a:pPr>
            <a:r>
              <a:rPr sz="1400" b="0">
                <a:solidFill>
                  <a:srgbClr val="5A6676"/>
                </a:solidFill>
                <a:latin typeface="Arial"/>
              </a:rPr>
              <a:t>прелазак преко циља није грешка него успех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98932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500" b="0">
                <a:solidFill>
                  <a:srgbClr val="CC4400"/>
                </a:solidFill>
                <a:latin typeface="Arial"/>
              </a:rPr>
              <a:t>Непланирана пауза се броји засебно и смањује оцену.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buNone/>
            </a:pPr>
            <a:r>
              <a:rPr sz="1100" b="0">
                <a:solidFill>
                  <a:srgbClr val="8A94A3"/>
                </a:solidFill>
                <a:latin typeface="Arial"/>
              </a:rP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200" b="1">
                <a:solidFill>
                  <a:srgbClr val="CC4400"/>
                </a:solidFill>
                <a:latin typeface="Arial"/>
              </a:rPr>
              <a:t>ФУНКЦИОНАЛНОСТИ</a:t>
            </a:r>
          </a:p>
          <a:p>
            <a:pPr>
              <a:spcBef>
                <a:spcPts val="400"/>
              </a:spcBef>
              <a:buNone/>
            </a:pPr>
            <a:r>
              <a:rPr sz="3000" b="1">
                <a:solidFill>
                  <a:srgbClr val="3E5278"/>
                </a:solidFill>
                <a:latin typeface="Arial"/>
              </a:rPr>
              <a:t>Праћење услова окружења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98448"/>
            <a:ext cx="1005840" cy="38100"/>
          </a:xfrm>
          <a:prstGeom prst="rect">
            <a:avLst/>
          </a:prstGeom>
          <a:solidFill>
            <a:srgbClr val="CC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91640"/>
          <a:ext cx="7132320" cy="2880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31720"/>
                <a:gridCol w="3200400"/>
                <a:gridCol w="1600200"/>
              </a:tblGrid>
              <a:tr h="41148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1">
                          <a:solidFill>
                            <a:srgbClr val="3E5278"/>
                          </a:solidFill>
                          <a:latin typeface="Arial"/>
                        </a:rPr>
                        <a:t>Појава</a:t>
                      </a:r>
                    </a:p>
                  </a:txBody>
                  <a:tcPr marL="76200" marR="76200" marT="25400" marB="25400" anchor="ctr">
                    <a:solidFill>
                      <a:srgbClr val="E8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3E5278"/>
                          </a:solidFill>
                          <a:latin typeface="Arial"/>
                        </a:rPr>
                        <a:t>Праг</a:t>
                      </a:r>
                    </a:p>
                  </a:txBody>
                  <a:tcPr marL="76200" marR="76200" marT="25400" marB="25400" anchor="ctr">
                    <a:solidFill>
                      <a:srgbClr val="E8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3E5278"/>
                          </a:solidFill>
                          <a:latin typeface="Arial"/>
                        </a:rPr>
                        <a:t>Одзив</a:t>
                      </a:r>
                    </a:p>
                  </a:txBody>
                  <a:tcPr marL="76200" marR="76200" marT="25400" marB="25400" anchor="ctr">
                    <a:solidFill>
                      <a:srgbClr val="E8ECF3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3E5278"/>
                          </a:solidFill>
                          <a:latin typeface="Arial"/>
                        </a:rPr>
                        <a:t>Мрак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3E5278"/>
                          </a:solidFill>
                          <a:latin typeface="Arial"/>
                        </a:rPr>
                        <a:t>испод 15 lx, одржано 10 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3E5278"/>
                          </a:solidFill>
                          <a:latin typeface="Arial"/>
                        </a:rPr>
                        <a:t>порука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3E5278"/>
                          </a:solidFill>
                          <a:latin typeface="Arial"/>
                        </a:rPr>
                        <a:t>Треперава светлост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3E5278"/>
                          </a:solidFill>
                          <a:latin typeface="Arial"/>
                        </a:rPr>
                        <a:t>4 промене преко 40 % за 30 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3E5278"/>
                          </a:solidFill>
                          <a:latin typeface="Arial"/>
                        </a:rPr>
                        <a:t>порука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3E5278"/>
                          </a:solidFill>
                          <a:latin typeface="Arial"/>
                        </a:rPr>
                        <a:t>Бука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3E5278"/>
                          </a:solidFill>
                          <a:latin typeface="Arial"/>
                        </a:rPr>
                        <a:t>преко 50 релативних dB, 15 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3E5278"/>
                          </a:solidFill>
                          <a:latin typeface="Arial"/>
                        </a:rPr>
                        <a:t>порука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3E5278"/>
                          </a:solidFill>
                          <a:latin typeface="Arial"/>
                        </a:rPr>
                        <a:t>Немирна бука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3E5278"/>
                          </a:solidFill>
                          <a:latin typeface="Arial"/>
                        </a:rPr>
                        <a:t>распон преко 12 релативних dB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3E5278"/>
                          </a:solidFill>
                          <a:latin typeface="Arial"/>
                        </a:rPr>
                        <a:t>порука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3E5278"/>
                          </a:solidFill>
                          <a:latin typeface="Arial"/>
                        </a:rPr>
                        <a:t>Руковање телефоном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3E5278"/>
                          </a:solidFill>
                          <a:latin typeface="Arial"/>
                        </a:rPr>
                        <a:t>2,5 m/s² или 1,0 rad/s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3E5278"/>
                          </a:solidFill>
                          <a:latin typeface="Arial"/>
                        </a:rPr>
                        <a:t>цео екран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3E5278"/>
                          </a:solidFill>
                          <a:latin typeface="Arial"/>
                        </a:rPr>
                        <a:t>Учестало руковање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3E5278"/>
                          </a:solidFill>
                          <a:latin typeface="Arial"/>
                        </a:rPr>
                        <a:t>4 подизања за 5 минута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3E5278"/>
                          </a:solidFill>
                          <a:latin typeface="Arial"/>
                        </a:rPr>
                        <a:t>цео екран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983480"/>
            <a:ext cx="71323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9400" indent="-279400">
              <a:lnSpc>
                <a:spcPct val="105000"/>
              </a:lnSpc>
              <a:spcBef>
                <a:spcPts val="0"/>
              </a:spcBef>
              <a:buClr>
                <a:srgbClr val="CC4400"/>
              </a:buClr>
              <a:buFont typeface="Arial"/>
              <a:buChar char="▪"/>
            </a:pPr>
            <a:r>
              <a:rPr sz="1600" b="0">
                <a:solidFill>
                  <a:srgbClr val="3E5278"/>
                </a:solidFill>
                <a:latin typeface="Arial"/>
              </a:rPr>
              <a:t>Мерено се чува сирово, а не као оцена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CC4400"/>
              </a:buClr>
              <a:buFont typeface="Arial"/>
              <a:buChar char="▪"/>
            </a:pPr>
            <a:r>
              <a:rPr sz="1600" b="0">
                <a:solidFill>
                  <a:srgbClr val="3E5278"/>
                </a:solidFill>
                <a:latin typeface="Arial"/>
              </a:rPr>
              <a:t>Током паузе се ништа не оцењује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CC4400"/>
              </a:buClr>
              <a:buFont typeface="Arial"/>
              <a:buChar char="▪"/>
            </a:pPr>
            <a:r>
              <a:rPr sz="1600" b="0">
                <a:solidFill>
                  <a:srgbClr val="3E5278"/>
                </a:solidFill>
                <a:latin typeface="Arial"/>
              </a:rPr>
              <a:t>Свако упозорење има мировање од два минута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8244840" y="1533344"/>
            <a:ext cx="3352800" cy="4614271"/>
          </a:xfrm>
          <a:prstGeom prst="rect">
            <a:avLst/>
          </a:prstGeom>
          <a:solidFill>
            <a:srgbClr val="F2F4F8"/>
          </a:solidFill>
          <a:ln w="9525">
            <a:solidFill>
              <a:srgbClr val="C6D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55-rukovanj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609544"/>
            <a:ext cx="3200400" cy="44618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buNone/>
            </a:pPr>
            <a:r>
              <a:rPr sz="1100" b="0">
                <a:solidFill>
                  <a:srgbClr val="8A94A3"/>
                </a:solidFill>
                <a:latin typeface="Arial"/>
              </a:rP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200" b="1">
                <a:solidFill>
                  <a:srgbClr val="CC4400"/>
                </a:solidFill>
                <a:latin typeface="Arial"/>
              </a:rPr>
              <a:t>ФУНКЦИОНАЛНОСТИ</a:t>
            </a:r>
          </a:p>
          <a:p>
            <a:pPr>
              <a:spcBef>
                <a:spcPts val="400"/>
              </a:spcBef>
              <a:buNone/>
            </a:pPr>
            <a:r>
              <a:rPr sz="3000" b="1">
                <a:solidFill>
                  <a:srgbClr val="3E5278"/>
                </a:solidFill>
                <a:latin typeface="Arial"/>
              </a:rPr>
              <a:t>Оцењивање сесије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98448"/>
            <a:ext cx="1005840" cy="38100"/>
          </a:xfrm>
          <a:prstGeom prst="rect">
            <a:avLst/>
          </a:prstGeom>
          <a:solidFill>
            <a:srgbClr val="CC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18360" y="1583293"/>
            <a:ext cx="7924800" cy="3188493"/>
          </a:xfrm>
          <a:prstGeom prst="rect">
            <a:avLst/>
          </a:prstGeom>
          <a:solidFill>
            <a:srgbClr val="F2F4F8"/>
          </a:solidFill>
          <a:ln w="9525">
            <a:solidFill>
              <a:srgbClr val="C6D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jagram-tok-ocenjivan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659493"/>
            <a:ext cx="7772400" cy="30360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4937760"/>
            <a:ext cx="56692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9400" indent="-279400">
              <a:lnSpc>
                <a:spcPct val="105000"/>
              </a:lnSpc>
              <a:spcBef>
                <a:spcPts val="0"/>
              </a:spcBef>
              <a:buClr>
                <a:srgbClr val="CC4400"/>
              </a:buClr>
              <a:buFont typeface="Arial"/>
              <a:buChar char="▪"/>
            </a:pPr>
            <a:r>
              <a:rPr sz="1700" b="0">
                <a:solidFill>
                  <a:srgbClr val="3E5278"/>
                </a:solidFill>
                <a:latin typeface="Arial"/>
              </a:rPr>
              <a:t>Језички модел даје оцену, коментар и анализу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8A94A3"/>
              </a:buClr>
              <a:buFont typeface="Arial"/>
              <a:buChar char="–"/>
            </a:pPr>
            <a:r>
              <a:rPr sz="1300" b="0">
                <a:solidFill>
                  <a:srgbClr val="5A6676"/>
                </a:solidFill>
                <a:latin typeface="Arial"/>
              </a:rPr>
              <a:t>улаз је сажетак сесије, не сирова очитавања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CC4400"/>
              </a:buClr>
              <a:buFont typeface="Arial"/>
              <a:buChar char="▪"/>
            </a:pPr>
            <a:r>
              <a:rPr sz="1700" b="0">
                <a:solidFill>
                  <a:srgbClr val="3E5278"/>
                </a:solidFill>
                <a:latin typeface="Arial"/>
              </a:rPr>
              <a:t>Иста правила описује и локално мерило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8A94A3"/>
              </a:buClr>
              <a:buFont typeface="Arial"/>
              <a:buChar char="–"/>
            </a:pPr>
            <a:r>
              <a:rPr sz="1300" b="0">
                <a:solidFill>
                  <a:srgbClr val="5A6676"/>
                </a:solidFill>
                <a:latin typeface="Arial"/>
              </a:rPr>
              <a:t>циљ 60, дисциплина 15, услови 25 поена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4937760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9400" indent="-279400">
              <a:lnSpc>
                <a:spcPct val="105000"/>
              </a:lnSpc>
              <a:spcBef>
                <a:spcPts val="0"/>
              </a:spcBef>
              <a:buClr>
                <a:srgbClr val="CC4400"/>
              </a:buClr>
              <a:buFont typeface="Arial"/>
              <a:buChar char="▪"/>
            </a:pPr>
            <a:r>
              <a:rPr sz="1700" b="0">
                <a:solidFill>
                  <a:srgbClr val="3E5278"/>
                </a:solidFill>
                <a:latin typeface="Arial"/>
              </a:rPr>
              <a:t>Оцена се добије увек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8A94A3"/>
              </a:buClr>
              <a:buFont typeface="Arial"/>
              <a:buChar char="–"/>
            </a:pPr>
            <a:r>
              <a:rPr sz="1300" b="0">
                <a:solidFill>
                  <a:srgbClr val="5A6676"/>
                </a:solidFill>
                <a:latin typeface="Arial"/>
              </a:rPr>
              <a:t>без кључа, без мреже или при грешци — локално мерило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CC4400"/>
              </a:buClr>
              <a:buFont typeface="Arial"/>
              <a:buChar char="▪"/>
            </a:pPr>
            <a:r>
              <a:rPr sz="1700" b="0">
                <a:solidFill>
                  <a:srgbClr val="3E5278"/>
                </a:solidFill>
                <a:latin typeface="Arial"/>
              </a:rPr>
              <a:t>Оцењивање тече пошто је сесија сачувана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8A94A3"/>
              </a:buClr>
              <a:buFont typeface="Arial"/>
              <a:buChar char="–"/>
            </a:pPr>
            <a:r>
              <a:rPr sz="1300" b="0">
                <a:solidFill>
                  <a:srgbClr val="5A6676"/>
                </a:solidFill>
                <a:latin typeface="Arial"/>
              </a:rPr>
              <a:t>спора мрежа не задржава корисника на екрану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buNone/>
            </a:pPr>
            <a:r>
              <a:rPr sz="1100" b="0">
                <a:solidFill>
                  <a:srgbClr val="8A94A3"/>
                </a:solidFill>
                <a:latin typeface="Arial"/>
              </a:rP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200" b="1">
                <a:solidFill>
                  <a:srgbClr val="CC4400"/>
                </a:solidFill>
                <a:latin typeface="Arial"/>
              </a:rPr>
              <a:t>ФУНКЦИОНАЛНОСТИ</a:t>
            </a:r>
          </a:p>
          <a:p>
            <a:pPr>
              <a:spcBef>
                <a:spcPts val="400"/>
              </a:spcBef>
              <a:buNone/>
            </a:pPr>
            <a:r>
              <a:rPr sz="3000" b="1">
                <a:solidFill>
                  <a:srgbClr val="3E5278"/>
                </a:solidFill>
                <a:latin typeface="Arial"/>
              </a:rPr>
              <a:t>Резултат сесије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98448"/>
            <a:ext cx="1005840" cy="38100"/>
          </a:xfrm>
          <a:prstGeom prst="rect">
            <a:avLst/>
          </a:prstGeom>
          <a:solidFill>
            <a:srgbClr val="CC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0770" y="1524000"/>
            <a:ext cx="3824859" cy="4632960"/>
          </a:xfrm>
          <a:prstGeom prst="rect">
            <a:avLst/>
          </a:prstGeom>
          <a:solidFill>
            <a:srgbClr val="F2F4F8"/>
          </a:solidFill>
          <a:ln w="9525">
            <a:solidFill>
              <a:srgbClr val="C6D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kran-rezultat-ai-0.0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70" y="1600200"/>
            <a:ext cx="3672459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69330" y="1524000"/>
            <a:ext cx="2097179" cy="4632960"/>
          </a:xfrm>
          <a:prstGeom prst="rect">
            <a:avLst/>
          </a:prstGeom>
          <a:solidFill>
            <a:srgbClr val="F2F4F8"/>
          </a:solidFill>
          <a:ln w="9525">
            <a:solidFill>
              <a:srgbClr val="C6D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kran-detalj-uslov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5530" y="1600200"/>
            <a:ext cx="1944779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0" y="1920240"/>
            <a:ext cx="36576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9400" indent="-279400">
              <a:lnSpc>
                <a:spcPct val="105000"/>
              </a:lnSpc>
              <a:spcBef>
                <a:spcPts val="0"/>
              </a:spcBef>
              <a:buClr>
                <a:srgbClr val="CC4400"/>
              </a:buClr>
              <a:buFont typeface="Arial"/>
              <a:buChar char="▪"/>
            </a:pPr>
            <a:r>
              <a:rPr sz="1600" b="0">
                <a:solidFill>
                  <a:srgbClr val="3E5278"/>
                </a:solidFill>
                <a:latin typeface="Arial"/>
              </a:rPr>
              <a:t>Три картице: оцена, услови и прекиди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CC4400"/>
              </a:buClr>
              <a:buFont typeface="Arial"/>
              <a:buChar char="▪"/>
            </a:pPr>
            <a:r>
              <a:rPr sz="1600" b="0">
                <a:solidFill>
                  <a:srgbClr val="3E5278"/>
                </a:solidFill>
                <a:latin typeface="Arial"/>
              </a:rPr>
              <a:t>Оцена се образлаже, а не саопштава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CC4400"/>
              </a:buClr>
              <a:buFont typeface="Arial"/>
              <a:buChar char="▪"/>
            </a:pPr>
            <a:r>
              <a:rPr sz="1600" b="0">
                <a:solidFill>
                  <a:srgbClr val="3E5278"/>
                </a:solidFill>
                <a:latin typeface="Arial"/>
              </a:rPr>
              <a:t>Услови се приказују уз праг, па је оцена проверљива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buNone/>
            </a:pPr>
            <a:r>
              <a:rPr sz="1100" b="0">
                <a:solidFill>
                  <a:srgbClr val="8A94A3"/>
                </a:solidFill>
                <a:latin typeface="Arial"/>
              </a:rP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200" b="1">
                <a:solidFill>
                  <a:srgbClr val="CC4400"/>
                </a:solidFill>
                <a:latin typeface="Arial"/>
              </a:rPr>
              <a:t>ФУНКЦИОНАЛНОСТИ</a:t>
            </a:r>
          </a:p>
          <a:p>
            <a:pPr>
              <a:spcBef>
                <a:spcPts val="400"/>
              </a:spcBef>
              <a:buNone/>
            </a:pPr>
            <a:r>
              <a:rPr sz="3000" b="1">
                <a:solidFill>
                  <a:srgbClr val="3E5278"/>
                </a:solidFill>
                <a:latin typeface="Arial"/>
              </a:rPr>
              <a:t>Заказивање и подсетници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98448"/>
            <a:ext cx="1005840" cy="38100"/>
          </a:xfrm>
          <a:prstGeom prst="rect">
            <a:avLst/>
          </a:prstGeom>
          <a:solidFill>
            <a:srgbClr val="CC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71323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9400" indent="-279400">
              <a:lnSpc>
                <a:spcPct val="105000"/>
              </a:lnSpc>
              <a:spcBef>
                <a:spcPts val="0"/>
              </a:spcBef>
              <a:buClr>
                <a:srgbClr val="CC4400"/>
              </a:buClr>
              <a:buFont typeface="Arial"/>
              <a:buChar char="▪"/>
            </a:pPr>
            <a:r>
              <a:rPr sz="1900" b="0">
                <a:solidFill>
                  <a:srgbClr val="3E5278"/>
                </a:solidFill>
                <a:latin typeface="Arial"/>
              </a:rPr>
              <a:t>Заказивање уз проверу преклапања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8A94A3"/>
              </a:buClr>
              <a:buFont typeface="Arial"/>
              <a:buChar char="–"/>
            </a:pPr>
            <a:r>
              <a:rPr sz="1500" b="0">
                <a:solidFill>
                  <a:srgbClr val="5A6676"/>
                </a:solidFill>
                <a:latin typeface="Arial"/>
              </a:rPr>
              <a:t>заузеће се рачуна из циља и планираних пауза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CC4400"/>
              </a:buClr>
              <a:buFont typeface="Arial"/>
              <a:buChar char="▪"/>
            </a:pPr>
            <a:r>
              <a:rPr sz="1900" b="0">
                <a:solidFill>
                  <a:srgbClr val="3E5278"/>
                </a:solidFill>
                <a:latin typeface="Arial"/>
              </a:rPr>
              <a:t>Три тачна подсетника по сесији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8A94A3"/>
              </a:buClr>
              <a:buFont typeface="Arial"/>
              <a:buChar char="–"/>
            </a:pPr>
            <a:r>
              <a:rPr sz="1500" b="0">
                <a:solidFill>
                  <a:srgbClr val="5A6676"/>
                </a:solidFill>
                <a:latin typeface="Arial"/>
              </a:rPr>
              <a:t>сат раније, пет минута раније и на почетку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CC4400"/>
              </a:buClr>
              <a:buFont typeface="Arial"/>
              <a:buChar char="▪"/>
            </a:pPr>
            <a:r>
              <a:rPr sz="1900" b="0">
                <a:solidFill>
                  <a:srgbClr val="3E5278"/>
                </a:solidFill>
                <a:latin typeface="Arial"/>
              </a:rPr>
              <a:t>AlarmManager, не WorkManager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8A94A3"/>
              </a:buClr>
              <a:buFont typeface="Arial"/>
              <a:buChar char="–"/>
            </a:pPr>
            <a:r>
              <a:rPr sz="1500" b="0">
                <a:solidFill>
                  <a:srgbClr val="5A6676"/>
                </a:solidFill>
                <a:latin typeface="Arial"/>
              </a:rPr>
              <a:t>одложено подсећање изгубило би смисао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CC4400"/>
              </a:buClr>
              <a:buFont typeface="Arial"/>
              <a:buChar char="▪"/>
            </a:pPr>
            <a:r>
              <a:rPr sz="1900" b="0">
                <a:solidFill>
                  <a:srgbClr val="3E5278"/>
                </a:solidFill>
                <a:latin typeface="Arial"/>
              </a:rPr>
              <a:t>Подсетници се обнављају после поновног покретања уређаја</a:t>
            </a:r>
          </a:p>
        </p:txBody>
      </p:sp>
      <p:sp>
        <p:nvSpPr>
          <p:cNvPr id="5" name="Rectangle 4"/>
          <p:cNvSpPr/>
          <p:nvPr/>
        </p:nvSpPr>
        <p:spPr>
          <a:xfrm>
            <a:off x="8729788" y="1478280"/>
            <a:ext cx="2382904" cy="4724400"/>
          </a:xfrm>
          <a:prstGeom prst="rect">
            <a:avLst/>
          </a:prstGeom>
          <a:solidFill>
            <a:srgbClr val="F2F4F8"/>
          </a:solidFill>
          <a:ln w="9525">
            <a:solidFill>
              <a:srgbClr val="C6D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58-zakazana-detal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5988" y="1554480"/>
            <a:ext cx="2230504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buNone/>
            </a:pPr>
            <a:r>
              <a:rPr sz="1100" b="0">
                <a:solidFill>
                  <a:srgbClr val="8A94A3"/>
                </a:solidFill>
                <a:latin typeface="Arial"/>
              </a:rP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200" b="1">
                <a:solidFill>
                  <a:srgbClr val="CC4400"/>
                </a:solidFill>
                <a:latin typeface="Arial"/>
              </a:rPr>
              <a:t>ФУНКЦИОНАЛНОСТИ</a:t>
            </a:r>
          </a:p>
          <a:p>
            <a:pPr>
              <a:spcBef>
                <a:spcPts val="400"/>
              </a:spcBef>
              <a:buNone/>
            </a:pPr>
            <a:r>
              <a:rPr sz="3000" b="1">
                <a:solidFill>
                  <a:srgbClr val="3E5278"/>
                </a:solidFill>
                <a:latin typeface="Arial"/>
              </a:rPr>
              <a:t>Историја и извештај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98448"/>
            <a:ext cx="1005840" cy="38100"/>
          </a:xfrm>
          <a:prstGeom prst="rect">
            <a:avLst/>
          </a:prstGeom>
          <a:solidFill>
            <a:srgbClr val="CC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83123" y="1524000"/>
            <a:ext cx="2337274" cy="4632960"/>
          </a:xfrm>
          <a:prstGeom prst="rect">
            <a:avLst/>
          </a:prstGeom>
          <a:solidFill>
            <a:srgbClr val="F2F4F8"/>
          </a:solidFill>
          <a:ln w="9525">
            <a:solidFill>
              <a:srgbClr val="C6D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59-istorija-s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323" y="1600200"/>
            <a:ext cx="2184874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48298" y="1661160"/>
            <a:ext cx="3270763" cy="4358640"/>
          </a:xfrm>
          <a:prstGeom prst="rect">
            <a:avLst/>
          </a:prstGeom>
          <a:solidFill>
            <a:srgbClr val="F2F4F8"/>
          </a:solidFill>
          <a:ln w="9525">
            <a:solidFill>
              <a:srgbClr val="C6D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510-izvesta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498" y="1737360"/>
            <a:ext cx="3118363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69680" y="1920240"/>
            <a:ext cx="26517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9400" indent="-279400">
              <a:lnSpc>
                <a:spcPct val="105000"/>
              </a:lnSpc>
              <a:spcBef>
                <a:spcPts val="0"/>
              </a:spcBef>
              <a:buClr>
                <a:srgbClr val="CC4400"/>
              </a:buClr>
              <a:buFont typeface="Arial"/>
              <a:buChar char="▪"/>
            </a:pPr>
            <a:r>
              <a:rPr sz="1600" b="0">
                <a:solidFill>
                  <a:srgbClr val="3E5278"/>
                </a:solidFill>
                <a:latin typeface="Arial"/>
              </a:rPr>
              <a:t>Филтрирање по категорији и теми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CC4400"/>
              </a:buClr>
              <a:buFont typeface="Arial"/>
              <a:buChar char="▪"/>
            </a:pPr>
            <a:r>
              <a:rPr sz="1600" b="0">
                <a:solidFill>
                  <a:srgbClr val="3E5278"/>
                </a:solidFill>
                <a:latin typeface="Arial"/>
              </a:rPr>
              <a:t>Просеци по темама откривају образац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CC4400"/>
              </a:buClr>
              <a:buFont typeface="Arial"/>
              <a:buChar char="▪"/>
            </a:pPr>
            <a:r>
              <a:rPr sz="1600" b="0">
                <a:solidFill>
                  <a:srgbClr val="3E5278"/>
                </a:solidFill>
                <a:latin typeface="Arial"/>
              </a:rPr>
              <a:t>Извештај се чува као текстуална датотека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buNone/>
            </a:pPr>
            <a:r>
              <a:rPr sz="1100" b="0">
                <a:solidFill>
                  <a:srgbClr val="8A94A3"/>
                </a:solidFill>
                <a:latin typeface="Arial"/>
              </a:rP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200" b="1">
                <a:solidFill>
                  <a:srgbClr val="CC4400"/>
                </a:solidFill>
                <a:latin typeface="Arial"/>
              </a:rPr>
              <a:t>ПРОВЕРА</a:t>
            </a:r>
          </a:p>
          <a:p>
            <a:pPr>
              <a:spcBef>
                <a:spcPts val="400"/>
              </a:spcBef>
              <a:buNone/>
            </a:pPr>
            <a:r>
              <a:rPr sz="3000" b="1">
                <a:solidFill>
                  <a:srgbClr val="3E5278"/>
                </a:solidFill>
                <a:latin typeface="Arial"/>
              </a:rPr>
              <a:t>Тестирање и верификација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98448"/>
            <a:ext cx="1005840" cy="38100"/>
          </a:xfrm>
          <a:prstGeom prst="rect">
            <a:avLst/>
          </a:prstGeom>
          <a:solidFill>
            <a:srgbClr val="CC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691640"/>
            <a:ext cx="2286000" cy="1600200"/>
          </a:xfrm>
          <a:prstGeom prst="rect">
            <a:avLst/>
          </a:prstGeom>
          <a:solidFill>
            <a:srgbClr val="F2F4F8"/>
          </a:solidFill>
          <a:ln w="9525">
            <a:solidFill>
              <a:srgbClr val="C6D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4000" b="1">
                <a:solidFill>
                  <a:srgbClr val="CC4400"/>
                </a:solidFill>
                <a:latin typeface="Arial"/>
              </a:rPr>
              <a:t>170</a:t>
            </a:r>
          </a:p>
          <a:p>
            <a:pPr algn="ctr">
              <a:spcBef>
                <a:spcPts val="100"/>
              </a:spcBef>
              <a:buNone/>
            </a:pPr>
            <a:r>
              <a:rPr sz="1300" b="0">
                <a:solidFill>
                  <a:srgbClr val="5A6676"/>
                </a:solidFill>
                <a:latin typeface="Arial"/>
              </a:rPr>
              <a:t>јединичних</a:t>
            </a:r>
          </a:p>
          <a:p>
            <a:pPr algn="ctr">
              <a:spcBef>
                <a:spcPts val="100"/>
              </a:spcBef>
              <a:buNone/>
            </a:pPr>
            <a:r>
              <a:rPr sz="1300" b="0">
                <a:solidFill>
                  <a:srgbClr val="5A6676"/>
                </a:solidFill>
                <a:latin typeface="Arial"/>
              </a:rPr>
              <a:t>тестова</a:t>
            </a:r>
          </a:p>
        </p:txBody>
      </p:sp>
      <p:sp>
        <p:nvSpPr>
          <p:cNvPr id="6" name="Rectangle 5"/>
          <p:cNvSpPr/>
          <p:nvPr/>
        </p:nvSpPr>
        <p:spPr>
          <a:xfrm>
            <a:off x="3154680" y="1691640"/>
            <a:ext cx="2286000" cy="1600200"/>
          </a:xfrm>
          <a:prstGeom prst="rect">
            <a:avLst/>
          </a:prstGeom>
          <a:solidFill>
            <a:srgbClr val="F2F4F8"/>
          </a:solidFill>
          <a:ln w="9525">
            <a:solidFill>
              <a:srgbClr val="C6D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54680" y="187451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4000" b="1">
                <a:solidFill>
                  <a:srgbClr val="CC4400"/>
                </a:solidFill>
                <a:latin typeface="Arial"/>
              </a:rPr>
              <a:t>8</a:t>
            </a:r>
          </a:p>
          <a:p>
            <a:pPr algn="ctr">
              <a:spcBef>
                <a:spcPts val="100"/>
              </a:spcBef>
              <a:buNone/>
            </a:pPr>
            <a:r>
              <a:rPr sz="1300" b="0">
                <a:solidFill>
                  <a:srgbClr val="5A6676"/>
                </a:solidFill>
                <a:latin typeface="Arial"/>
              </a:rPr>
              <a:t>инструментисаних</a:t>
            </a:r>
          </a:p>
          <a:p>
            <a:pPr algn="ctr">
              <a:spcBef>
                <a:spcPts val="100"/>
              </a:spcBef>
              <a:buNone/>
            </a:pPr>
            <a:r>
              <a:rPr sz="1300" b="0">
                <a:solidFill>
                  <a:srgbClr val="5A6676"/>
                </a:solidFill>
                <a:latin typeface="Arial"/>
              </a:rPr>
              <a:t>тестова</a:t>
            </a:r>
          </a:p>
        </p:txBody>
      </p:sp>
      <p:sp>
        <p:nvSpPr>
          <p:cNvPr id="8" name="Rectangle 7"/>
          <p:cNvSpPr/>
          <p:nvPr/>
        </p:nvSpPr>
        <p:spPr>
          <a:xfrm>
            <a:off x="5623560" y="1691640"/>
            <a:ext cx="2286000" cy="1600200"/>
          </a:xfrm>
          <a:prstGeom prst="rect">
            <a:avLst/>
          </a:prstGeom>
          <a:solidFill>
            <a:srgbClr val="F2F4F8"/>
          </a:solidFill>
          <a:ln w="9525">
            <a:solidFill>
              <a:srgbClr val="C6D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3560" y="187451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4000" b="1">
                <a:solidFill>
                  <a:srgbClr val="CC4400"/>
                </a:solidFill>
                <a:latin typeface="Arial"/>
              </a:rPr>
              <a:t>10</a:t>
            </a:r>
          </a:p>
          <a:p>
            <a:pPr algn="ctr">
              <a:spcBef>
                <a:spcPts val="100"/>
              </a:spcBef>
              <a:buNone/>
            </a:pPr>
            <a:r>
              <a:rPr sz="1300" b="0">
                <a:solidFill>
                  <a:srgbClr val="5A6676"/>
                </a:solidFill>
                <a:latin typeface="Arial"/>
              </a:rPr>
              <a:t>корисника у</a:t>
            </a:r>
          </a:p>
          <a:p>
            <a:pPr algn="ctr">
              <a:spcBef>
                <a:spcPts val="100"/>
              </a:spcBef>
              <a:buNone/>
            </a:pPr>
            <a:r>
              <a:rPr sz="1300" b="0">
                <a:solidFill>
                  <a:srgbClr val="5A6676"/>
                </a:solidFill>
                <a:latin typeface="Arial"/>
              </a:rPr>
              <a:t>другом кругу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57600"/>
            <a:ext cx="107899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9400" indent="-279400">
              <a:lnSpc>
                <a:spcPct val="105000"/>
              </a:lnSpc>
              <a:spcBef>
                <a:spcPts val="0"/>
              </a:spcBef>
              <a:buClr>
                <a:srgbClr val="CC4400"/>
              </a:buClr>
              <a:buFont typeface="Arial"/>
              <a:buChar char="▪"/>
            </a:pPr>
            <a:r>
              <a:rPr sz="1700" b="0">
                <a:solidFill>
                  <a:srgbClr val="3E5278"/>
                </a:solidFill>
                <a:latin typeface="Arial"/>
              </a:rPr>
              <a:t>Логика независна од уређаја покривена је јединичним тестовима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8A94A3"/>
              </a:buClr>
              <a:buFont typeface="Arial"/>
              <a:buChar char="–"/>
            </a:pPr>
            <a:r>
              <a:rPr sz="1300" b="0">
                <a:solidFill>
                  <a:srgbClr val="5A6676"/>
                </a:solidFill>
                <a:latin typeface="Arial"/>
              </a:rPr>
              <a:t>мерило оцењивања, распоред пауза, преклапања, праг упозорења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CC4400"/>
              </a:buClr>
              <a:buFont typeface="Arial"/>
              <a:buChar char="▪"/>
            </a:pPr>
            <a:r>
              <a:rPr sz="1700" b="0">
                <a:solidFill>
                  <a:srgbClr val="3E5278"/>
                </a:solidFill>
                <a:latin typeface="Arial"/>
              </a:rPr>
              <a:t>База је проверена инструментисаним тестовима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8A94A3"/>
              </a:buClr>
              <a:buFont typeface="Arial"/>
              <a:buChar char="–"/>
            </a:pPr>
            <a:r>
              <a:rPr sz="1300" b="0">
                <a:solidFill>
                  <a:srgbClr val="5A6676"/>
                </a:solidFill>
                <a:latin typeface="Arial"/>
              </a:rPr>
              <a:t>укључујући прелазе између верзија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CC4400"/>
              </a:buClr>
              <a:buFont typeface="Arial"/>
              <a:buChar char="▪"/>
            </a:pPr>
            <a:r>
              <a:rPr sz="1700" b="0">
                <a:solidFill>
                  <a:srgbClr val="3E5278"/>
                </a:solidFill>
                <a:latin typeface="Arial"/>
              </a:rPr>
              <a:t>Сензори су проверени убацивањем вредности у емулатор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8A94A3"/>
              </a:buClr>
              <a:buFont typeface="Arial"/>
              <a:buChar char="–"/>
            </a:pPr>
            <a:r>
              <a:rPr sz="1300" b="0">
                <a:solidFill>
                  <a:srgbClr val="5A6676"/>
                </a:solidFill>
                <a:latin typeface="Arial"/>
              </a:rPr>
              <a:t>микрофон само на правом уређају, јер емулатор даје тишину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CC4400"/>
              </a:buClr>
              <a:buFont typeface="Arial"/>
              <a:buChar char="▪"/>
            </a:pPr>
            <a:r>
              <a:rPr sz="1700" b="0">
                <a:solidFill>
                  <a:srgbClr val="3E5278"/>
                </a:solidFill>
                <a:latin typeface="Arial"/>
              </a:rPr>
              <a:t>Корисничко тестирање у два круга, 5 па 10 корисника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8A94A3"/>
              </a:buClr>
              <a:buFont typeface="Arial"/>
              <a:buChar char="–"/>
            </a:pPr>
            <a:r>
              <a:rPr sz="1300" b="0">
                <a:solidFill>
                  <a:srgbClr val="5A6676"/>
                </a:solidFill>
                <a:latin typeface="Arial"/>
              </a:rPr>
              <a:t>четири примедбе ушле су у решење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buNone/>
            </a:pPr>
            <a:r>
              <a:rPr sz="1100" b="0">
                <a:solidFill>
                  <a:srgbClr val="8A94A3"/>
                </a:solidFill>
                <a:latin typeface="Arial"/>
              </a:rP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200" b="1">
                <a:solidFill>
                  <a:srgbClr val="CC4400"/>
                </a:solidFill>
                <a:latin typeface="Arial"/>
              </a:rPr>
              <a:t>ОСВРТ</a:t>
            </a:r>
          </a:p>
          <a:p>
            <a:pPr>
              <a:spcBef>
                <a:spcPts val="400"/>
              </a:spcBef>
              <a:buNone/>
            </a:pPr>
            <a:r>
              <a:rPr sz="3000" b="1">
                <a:solidFill>
                  <a:srgbClr val="3E5278"/>
                </a:solidFill>
                <a:latin typeface="Arial"/>
              </a:rPr>
              <a:t>Закључак и даљи рад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98448"/>
            <a:ext cx="1005840" cy="38100"/>
          </a:xfrm>
          <a:prstGeom prst="rect">
            <a:avLst/>
          </a:prstGeom>
          <a:solidFill>
            <a:srgbClr val="CC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7899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9400" indent="-279400">
              <a:lnSpc>
                <a:spcPct val="105000"/>
              </a:lnSpc>
              <a:spcBef>
                <a:spcPts val="0"/>
              </a:spcBef>
              <a:buClr>
                <a:srgbClr val="CC4400"/>
              </a:buClr>
              <a:buFont typeface="Arial"/>
              <a:buChar char="▪"/>
            </a:pPr>
            <a:r>
              <a:rPr sz="1900" b="0">
                <a:solidFill>
                  <a:srgbClr val="3E5278"/>
                </a:solidFill>
                <a:latin typeface="Arial"/>
              </a:rPr>
              <a:t>Спојено је оно што постојећа решења раде одвојено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8A94A3"/>
              </a:buClr>
              <a:buFont typeface="Arial"/>
              <a:buChar char="–"/>
            </a:pPr>
            <a:r>
              <a:rPr sz="1500" b="0">
                <a:solidFill>
                  <a:srgbClr val="5A6676"/>
                </a:solidFill>
                <a:latin typeface="Arial"/>
              </a:rPr>
              <a:t>временски ограничена сесија, мерење услова и оцена са образложењем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CC4400"/>
              </a:buClr>
              <a:buFont typeface="Arial"/>
              <a:buChar char="▪"/>
            </a:pPr>
            <a:r>
              <a:rPr sz="1900" b="0">
                <a:solidFill>
                  <a:srgbClr val="3E5278"/>
                </a:solidFill>
                <a:latin typeface="Arial"/>
              </a:rPr>
              <a:t>Решење припада подручју самопраћења, не мерења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8A94A3"/>
              </a:buClr>
              <a:buFont typeface="Arial"/>
              <a:buChar char="–"/>
            </a:pPr>
            <a:r>
              <a:rPr sz="1500" b="0">
                <a:solidFill>
                  <a:srgbClr val="5A6676"/>
                </a:solidFill>
                <a:latin typeface="Arial"/>
              </a:rPr>
              <a:t>телефон није баждарен инструмент, а скала јачине звука је релативна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CC4400"/>
              </a:buClr>
              <a:buFont typeface="Arial"/>
              <a:buChar char="▪"/>
            </a:pPr>
            <a:r>
              <a:rPr sz="1900" b="0">
                <a:solidFill>
                  <a:srgbClr val="3E5278"/>
                </a:solidFill>
                <a:latin typeface="Arial"/>
              </a:rPr>
              <a:t>Даљи рад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8A94A3"/>
              </a:buClr>
              <a:buFont typeface="Arial"/>
              <a:buChar char="–"/>
            </a:pPr>
            <a:r>
              <a:rPr sz="1500" b="0">
                <a:solidFill>
                  <a:srgbClr val="5A6676"/>
                </a:solidFill>
                <a:latin typeface="Arial"/>
              </a:rPr>
              <a:t>провера прагова на правом уређају и калибрација микрофона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8A94A3"/>
              </a:buClr>
              <a:buFont typeface="Arial"/>
              <a:buChar char="–"/>
            </a:pPr>
            <a:r>
              <a:rPr sz="1500" b="0">
                <a:solidFill>
                  <a:srgbClr val="5A6676"/>
                </a:solidFill>
                <a:latin typeface="Arial"/>
              </a:rPr>
              <a:t>уочени обрасци као улаз у оцену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8A94A3"/>
              </a:buClr>
              <a:buFont typeface="Arial"/>
              <a:buChar char="–"/>
            </a:pPr>
            <a:r>
              <a:rPr sz="1500" b="0">
                <a:solidFill>
                  <a:srgbClr val="5A6676"/>
                </a:solidFill>
                <a:latin typeface="Arial"/>
              </a:rPr>
              <a:t>прилагођавање прагова навикама корисника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buNone/>
            </a:pPr>
            <a:r>
              <a:rPr sz="1100" b="0">
                <a:solidFill>
                  <a:srgbClr val="8A94A3"/>
                </a:solidFill>
                <a:latin typeface="Arial"/>
              </a:rP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52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F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0"/>
            <a:ext cx="1082009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4000" b="1">
                <a:solidFill>
                  <a:srgbClr val="FFFFFF"/>
                </a:solidFill>
                <a:latin typeface="Arial"/>
              </a:rPr>
              <a:t>Хвала на пажњи</a:t>
            </a:r>
          </a:p>
          <a:p>
            <a:pPr algn="ctr">
              <a:spcBef>
                <a:spcPts val="1400"/>
              </a:spcBef>
              <a:buNone/>
            </a:pPr>
            <a:r>
              <a:rPr sz="2400" b="0">
                <a:solidFill>
                  <a:srgbClr val="FF9700"/>
                </a:solidFill>
                <a:latin typeface="Arial"/>
              </a:rPr>
              <a:t>Питања?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84632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400" b="0">
                <a:solidFill>
                  <a:srgbClr val="C6D2E6"/>
                </a:solidFill>
                <a:latin typeface="Arial"/>
              </a:rPr>
              <a:t>github.com/grabad1/pmu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buNone/>
            </a:pPr>
            <a:r>
              <a:rPr sz="1100" b="0">
                <a:solidFill>
                  <a:srgbClr val="8A94A3"/>
                </a:solidFill>
                <a:latin typeface="Arial"/>
              </a:rP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