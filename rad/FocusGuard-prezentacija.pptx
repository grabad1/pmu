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f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895144"/>
            <a:ext cx="1051560" cy="1227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057400" y="86868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1">
                <a:solidFill>
                  <a:srgbClr val="F2F2F7"/>
                </a:solidFill>
                <a:latin typeface="Arial"/>
              </a:rPr>
              <a:t>Електротехнички факултет</a:t>
            </a:r>
          </a:p>
          <a:p>
            <a:pPr>
              <a:spcBef>
                <a:spcPts val="200"/>
              </a:spcBef>
              <a:buNone/>
            </a:pPr>
            <a:r>
              <a:rPr sz="1500" b="0">
                <a:solidFill>
                  <a:srgbClr val="8E8E93"/>
                </a:solidFill>
                <a:latin typeface="Arial"/>
              </a:rPr>
              <a:t>Универзитет у Београду</a:t>
            </a:r>
          </a:p>
          <a:p>
            <a:pPr>
              <a:spcBef>
                <a:spcPts val="120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Дипломски рад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1005840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buNone/>
            </a:pPr>
            <a:r>
              <a:rPr sz="4400" b="1">
                <a:solidFill>
                  <a:srgbClr val="F2F2F7"/>
                </a:solidFill>
                <a:latin typeface="Arial"/>
              </a:rPr>
              <a:t>Мобилна апликација за</a:t>
            </a:r>
          </a:p>
          <a:p>
            <a:pPr>
              <a:lnSpc>
                <a:spcPct val="105000"/>
              </a:lnSpc>
              <a:spcBef>
                <a:spcPts val="0"/>
              </a:spcBef>
              <a:buNone/>
            </a:pPr>
            <a:r>
              <a:rPr sz="4400" b="1">
                <a:solidFill>
                  <a:srgbClr val="F2F2F7"/>
                </a:solidFill>
                <a:latin typeface="Arial"/>
              </a:rPr>
              <a:t>праћење и унапређење фокуса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4434840"/>
            <a:ext cx="14630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800600"/>
            <a:ext cx="5486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Кандидат</a:t>
            </a:r>
          </a:p>
          <a:p>
            <a:pPr>
              <a:spcBef>
                <a:spcPts val="300"/>
              </a:spcBef>
              <a:buNone/>
            </a:pPr>
            <a:r>
              <a:rPr sz="1900" b="0">
                <a:solidFill>
                  <a:srgbClr val="F2F2F7"/>
                </a:solidFill>
                <a:latin typeface="Arial"/>
              </a:rPr>
              <a:t>Душан Грабовић, 2022/0099</a:t>
            </a:r>
          </a:p>
          <a:p>
            <a:pPr>
              <a:spcBef>
                <a:spcPts val="140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Ментор</a:t>
            </a:r>
          </a:p>
          <a:p>
            <a:pPr>
              <a:spcBef>
                <a:spcPts val="300"/>
              </a:spcBef>
              <a:buNone/>
            </a:pPr>
            <a:r>
              <a:rPr sz="1900" b="0">
                <a:solidFill>
                  <a:srgbClr val="F2F2F7"/>
                </a:solidFill>
                <a:latin typeface="Arial"/>
              </a:rPr>
              <a:t>проф. др Захарије Радивојевић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48295" y="5806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500" b="0">
                <a:solidFill>
                  <a:srgbClr val="8E8E93"/>
                </a:solidFill>
                <a:latin typeface="Arial"/>
              </a:rPr>
              <a:t>Београд, септембар 2026.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Садржај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37360"/>
            <a:ext cx="7315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2200" b="0">
                <a:solidFill>
                  <a:srgbClr val="F2F2F7"/>
                </a:solidFill>
                <a:latin typeface="Arial"/>
              </a:rPr>
              <a:t>Мотивација и постојећа решења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2200" b="0">
                <a:solidFill>
                  <a:srgbClr val="F2F2F7"/>
                </a:solidFill>
                <a:latin typeface="Arial"/>
              </a:rPr>
              <a:t>Предложено решење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2200" b="0">
                <a:solidFill>
                  <a:srgbClr val="F2F2F7"/>
                </a:solidFill>
                <a:latin typeface="Arial"/>
              </a:rPr>
              <a:t>Архитектура и коришћене технологије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2200" b="0">
                <a:solidFill>
                  <a:srgbClr val="F2F2F7"/>
                </a:solidFill>
                <a:latin typeface="Arial"/>
              </a:rPr>
              <a:t>Ток сесије и праћење услова окружења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2200" b="0">
                <a:solidFill>
                  <a:srgbClr val="F2F2F7"/>
                </a:solidFill>
                <a:latin typeface="Arial"/>
              </a:rPr>
              <a:t>Оцењивање сесије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2200" b="0">
                <a:solidFill>
                  <a:srgbClr val="F2F2F7"/>
                </a:solidFill>
                <a:latin typeface="Arial"/>
              </a:rPr>
              <a:t>Тестирање и верификација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2200" b="0">
                <a:solidFill>
                  <a:srgbClr val="F2F2F7"/>
                </a:solidFill>
                <a:latin typeface="Arial"/>
              </a:rPr>
              <a:t>Закључак и даљи рад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МОТИВАЦИЈА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Проблем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107899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Прекид кошта више од времена које траје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повратак на задатак тражи знатно дуже од самог прекида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На фокус утиче и просторија, не само садржај на екрану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осветљење, бука и руковање телефоном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Постојећа решења блокирају, али не мере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услови у којима је рад обављен нигде се не бележе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После сесије изостаје повратна информација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„колико сам заиста радио” остаје без одговора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Циљна група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„рад на себи” тренд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таквом кориснику треба подршка, а не забрана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3/15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ПРЕГЛЕД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Постојећа решења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91640"/>
          <a:ext cx="1078992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286000"/>
                <a:gridCol w="1143000"/>
                <a:gridCol w="1143000"/>
                <a:gridCol w="1078992"/>
                <a:gridCol w="1143000"/>
                <a:gridCol w="1344168"/>
                <a:gridCol w="1170432"/>
                <a:gridCol w="1481328"/>
              </a:tblGrid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2F2F7"/>
                          </a:solidFill>
                          <a:latin typeface="Arial"/>
                        </a:rPr>
                        <a:t>Решење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2F2F7"/>
                          </a:solidFill>
                          <a:latin typeface="Arial"/>
                        </a:rPr>
                        <a:t>мобилна
платформа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2F2F7"/>
                          </a:solidFill>
                          <a:latin typeface="Arial"/>
                        </a:rPr>
                        <a:t>сензори
окружења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2F2F7"/>
                          </a:solidFill>
                          <a:latin typeface="Arial"/>
                        </a:rPr>
                        <a:t>оцена по
сесији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2F2F7"/>
                          </a:solidFill>
                          <a:latin typeface="Arial"/>
                        </a:rPr>
                        <a:t>објављено
мерило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2F2F7"/>
                          </a:solidFill>
                          <a:latin typeface="Arial"/>
                        </a:rPr>
                        <a:t>разликовање
пауза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2F2F7"/>
                          </a:solidFill>
                          <a:latin typeface="Arial"/>
                        </a:rPr>
                        <a:t>блокирање
садржаја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F2F2F7"/>
                          </a:solidFill>
                          <a:latin typeface="Arial"/>
                        </a:rPr>
                        <a:t>гејмификација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Arial"/>
                        </a:rPr>
                        <a:t>Forest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Arial"/>
                        </a:rPr>
                        <a:t>Freedom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Arial"/>
                        </a:rPr>
                        <a:t>Digital Wellbeing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Arial"/>
                        </a:rPr>
                        <a:t>Opal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Arial"/>
                        </a:rPr>
                        <a:t>Rize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Arial"/>
                        </a:rPr>
                        <a:t>Endel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Arial"/>
                        </a:rPr>
                        <a:t>FocusCalm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Arial"/>
                        </a:rPr>
                        <a:t>Focusito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F2F2F7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48484A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300" b="1">
                          <a:solidFill>
                            <a:srgbClr val="FF5500"/>
                          </a:solidFill>
                          <a:latin typeface="Arial"/>
                        </a:rPr>
                        <a:t>Focus Guard</a:t>
                      </a:r>
                    </a:p>
                  </a:txBody>
                  <a:tcPr marL="76200" marR="76200" marT="25400" marB="25400" anchor="ctr">
                    <a:solidFill>
                      <a:srgbClr val="2A16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0D15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2A16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0D15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2A16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0D15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2A16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0D15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2A16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0">
                          <a:solidFill>
                            <a:srgbClr val="30D158"/>
                          </a:solidFill>
                          <a:latin typeface="Segoe UI Symbol"/>
                        </a:rPr>
                        <a:t>✓</a:t>
                      </a:r>
                    </a:p>
                  </a:txBody>
                  <a:tcPr marL="76200" marR="76200" marT="25400" marB="25400" anchor="ctr">
                    <a:solidFill>
                      <a:srgbClr val="2A16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30D158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2A160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300" b="1">
                          <a:solidFill>
                            <a:srgbClr val="30D158"/>
                          </a:solidFill>
                          <a:latin typeface="Segoe UI Symbol"/>
                        </a:rPr>
                        <a:t>✗</a:t>
                      </a:r>
                    </a:p>
                  </a:txBody>
                  <a:tcPr marL="76200" marR="76200" marT="25400" marB="25400" anchor="ctr">
                    <a:solidFill>
                      <a:srgbClr val="2A160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89788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0">
                <a:solidFill>
                  <a:srgbClr val="FF5500"/>
                </a:solidFill>
                <a:latin typeface="Arial"/>
              </a:rPr>
              <a:t>Ниједно разматрано решење не спаја мерење услова рада са оценом обављене сесије.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ПРЕДЛОЖЕНО РЕШЕЊЕ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Шта апликација ради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731520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Сесија са задатим циљем и планираним паузама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Мерење услова током рада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осветљење, бука и руковање телефоном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Упозорење у тренутку кад услов попусти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а не тек у извештају на крају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Оцена сесије од 0 до 100 са образложењем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оцењује се и окружење, не само истрајано време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Историја, просеци по темама и извештај</a:t>
            </a:r>
          </a:p>
        </p:txBody>
      </p:sp>
      <p:sp>
        <p:nvSpPr>
          <p:cNvPr id="5" name="Rectangle 4"/>
          <p:cNvSpPr/>
          <p:nvPr/>
        </p:nvSpPr>
        <p:spPr>
          <a:xfrm>
            <a:off x="8793270" y="1478280"/>
            <a:ext cx="2255939" cy="472440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4-sesija-u-toku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470" y="1554480"/>
            <a:ext cx="2103539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РЕШЕЊЕ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Архитектура и технологије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691640"/>
            <a:ext cx="3172968" cy="265176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6968" y="1837944"/>
            <a:ext cx="27706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500" b="1">
                <a:solidFill>
                  <a:srgbClr val="FF5500"/>
                </a:solidFill>
                <a:latin typeface="Arial"/>
              </a:rPr>
              <a:t>Client Interface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2258568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368296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Jetpack Compose</a:t>
            </a:r>
          </a:p>
        </p:txBody>
      </p:sp>
      <p:sp>
        <p:nvSpPr>
          <p:cNvPr id="8" name="Rectangle 7"/>
          <p:cNvSpPr/>
          <p:nvPr/>
        </p:nvSpPr>
        <p:spPr>
          <a:xfrm>
            <a:off x="886968" y="2770632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880360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Material 3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6968" y="3282696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3392424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ViewModel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6968" y="3794760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904488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Navigation Compose</a:t>
            </a:r>
          </a:p>
        </p:txBody>
      </p:sp>
      <p:sp>
        <p:nvSpPr>
          <p:cNvPr id="14" name="Left-Right Arrow 13"/>
          <p:cNvSpPr/>
          <p:nvPr/>
        </p:nvSpPr>
        <p:spPr>
          <a:xfrm>
            <a:off x="3950208" y="2834640"/>
            <a:ext cx="457200" cy="365760"/>
          </a:xfrm>
          <a:prstGeom prst="leftRightArrow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98848" y="1691640"/>
            <a:ext cx="3172968" cy="265176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1837944"/>
            <a:ext cx="27706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500" b="1">
                <a:solidFill>
                  <a:srgbClr val="FF5500"/>
                </a:solidFill>
                <a:latin typeface="Arial"/>
              </a:rPr>
              <a:t>Business Logic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00016" y="2258568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0016" y="2368296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SessionEngine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00016" y="2770632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2880360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EnvironmentMonitor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0016" y="3282696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0016" y="3392424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Session rating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0016" y="3794760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3904488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Hilt</a:t>
            </a:r>
          </a:p>
        </p:txBody>
      </p:sp>
      <p:sp>
        <p:nvSpPr>
          <p:cNvPr id="25" name="Left-Right Arrow 24"/>
          <p:cNvSpPr/>
          <p:nvPr/>
        </p:nvSpPr>
        <p:spPr>
          <a:xfrm>
            <a:off x="7763256" y="2834640"/>
            <a:ext cx="457200" cy="365760"/>
          </a:xfrm>
          <a:prstGeom prst="leftRightArrow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11896" y="1691640"/>
            <a:ext cx="3172968" cy="265176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13064" y="1837944"/>
            <a:ext cx="277063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500" b="1">
                <a:solidFill>
                  <a:srgbClr val="FF5500"/>
                </a:solidFill>
                <a:latin typeface="Arial"/>
              </a:rPr>
              <a:t>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13064" y="2258568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13064" y="2368296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Repositories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13064" y="2770632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13064" y="2880360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Room / SQLite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13064" y="3282696"/>
            <a:ext cx="2770632" cy="420624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13064" y="3392424"/>
            <a:ext cx="277063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200" b="1">
                <a:solidFill>
                  <a:srgbClr val="F2F2F7"/>
                </a:solidFill>
                <a:latin typeface="Arial"/>
              </a:rPr>
              <a:t>Retrofit</a:t>
            </a:r>
          </a:p>
        </p:txBody>
      </p:sp>
      <p:sp>
        <p:nvSpPr>
          <p:cNvPr id="34" name="Up Arrow 33"/>
          <p:cNvSpPr/>
          <p:nvPr/>
        </p:nvSpPr>
        <p:spPr>
          <a:xfrm>
            <a:off x="5939028" y="4370832"/>
            <a:ext cx="292608" cy="310896"/>
          </a:xfrm>
          <a:prstGeom prst="upArrow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Down Arrow 34"/>
          <p:cNvSpPr/>
          <p:nvPr/>
        </p:nvSpPr>
        <p:spPr>
          <a:xfrm>
            <a:off x="9550908" y="4370832"/>
            <a:ext cx="292608" cy="310896"/>
          </a:xfrm>
          <a:prstGeom prst="downArrow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Up Arrow 35"/>
          <p:cNvSpPr/>
          <p:nvPr/>
        </p:nvSpPr>
        <p:spPr>
          <a:xfrm>
            <a:off x="9953244" y="4370832"/>
            <a:ext cx="292608" cy="310896"/>
          </a:xfrm>
          <a:prstGeom prst="upArrow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5380" y="440740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000" b="0">
                <a:solidFill>
                  <a:srgbClr val="8E8E93"/>
                </a:solidFill>
                <a:latin typeface="Arial"/>
              </a:rPr>
              <a:t>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09860" y="440740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000" b="0">
                <a:solidFill>
                  <a:srgbClr val="8E8E93"/>
                </a:solidFill>
                <a:latin typeface="Arial"/>
              </a:rPr>
              <a:t>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5800" y="4709160"/>
            <a:ext cx="6986016" cy="749808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6968" y="4837176"/>
            <a:ext cx="6583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Android Platform</a:t>
            </a:r>
          </a:p>
          <a:p>
            <a:pPr algn="ctr">
              <a:spcBef>
                <a:spcPts val="400"/>
              </a:spcBef>
              <a:buNone/>
            </a:pPr>
            <a:r>
              <a:rPr sz="1100" b="0">
                <a:solidFill>
                  <a:srgbClr val="8E8E93"/>
                </a:solidFill>
                <a:latin typeface="Arial"/>
              </a:rPr>
              <a:t>foreground service  ·  AlarmManager  ·  sensors  ·  microphone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311896" y="4709160"/>
            <a:ext cx="3172968" cy="749808"/>
          </a:xfrm>
          <a:prstGeom prst="rect">
            <a:avLst/>
          </a:prstGeom>
          <a:solidFill>
            <a:srgbClr val="2A1608"/>
          </a:solidFill>
          <a:ln w="9525">
            <a:solidFill>
              <a:srgbClr val="FF55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513064" y="4837176"/>
            <a:ext cx="277063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300" b="1">
                <a:solidFill>
                  <a:srgbClr val="F2F2F7"/>
                </a:solidFill>
                <a:latin typeface="Arial"/>
              </a:rPr>
              <a:t>Gemini API</a:t>
            </a:r>
          </a:p>
          <a:p>
            <a:pPr algn="ctr">
              <a:spcBef>
                <a:spcPts val="400"/>
              </a:spcBef>
              <a:buNone/>
            </a:pPr>
            <a:r>
              <a:rPr sz="1100" b="0">
                <a:solidFill>
                  <a:srgbClr val="8E8E93"/>
                </a:solidFill>
                <a:latin typeface="Arial"/>
              </a:rPr>
              <a:t>туђа услуга, ван апликације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580644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0">
                <a:solidFill>
                  <a:srgbClr val="FF5500"/>
                </a:solidFill>
                <a:latin typeface="Arial"/>
              </a:rPr>
              <a:t>Апликација нема свој сервер: једина мрежна веза је позив за оцену, а сви подаци остају на уређају.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Ток сесије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600203" y="1524000"/>
            <a:ext cx="1645913" cy="339852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54-sesija-u-toku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6403" y="1600200"/>
            <a:ext cx="1493513" cy="3246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0292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FF5500"/>
                </a:solidFill>
                <a:latin typeface="Arial"/>
              </a:rPr>
              <a:t>рад у току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8E8E93"/>
                </a:solidFill>
                <a:latin typeface="Arial"/>
              </a:rPr>
              <a:t>циљ и време до следеће паузе стално су видљиви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3" y="1524000"/>
            <a:ext cx="1645913" cy="339852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56-pauza-planirana-0.045-0.030-0.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6843" y="1600200"/>
            <a:ext cx="1493513" cy="32461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0" y="50292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FF5500"/>
                </a:solidFill>
                <a:latin typeface="Arial"/>
              </a:rPr>
              <a:t>планирана пауза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8E8E93"/>
                </a:solidFill>
                <a:latin typeface="Arial"/>
              </a:rPr>
              <a:t>паузе су распоређене равномерно, на циљ/(n+1)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41083" y="1524000"/>
            <a:ext cx="1645913" cy="339852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54-prekoracenje-0.045-0.030-0.0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7283" y="1600200"/>
            <a:ext cx="1493513" cy="3246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50292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FF5500"/>
                </a:solidFill>
                <a:latin typeface="Arial"/>
              </a:rPr>
              <a:t>прекорачење циља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8E8E93"/>
                </a:solidFill>
                <a:latin typeface="Arial"/>
              </a:rPr>
              <a:t>прелазак преко циља није грешка него успех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98932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0">
                <a:solidFill>
                  <a:srgbClr val="FF5500"/>
                </a:solidFill>
                <a:latin typeface="Arial"/>
              </a:rPr>
              <a:t>Непланирана пауза се броји засебно и смањује оцену.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Праћење услова окружења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691640"/>
          <a:ext cx="7132320" cy="28803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31720"/>
                <a:gridCol w="3200400"/>
                <a:gridCol w="1600200"/>
              </a:tblGrid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1">
                          <a:solidFill>
                            <a:srgbClr val="F2F2F7"/>
                          </a:solidFill>
                          <a:latin typeface="Arial"/>
                        </a:rPr>
                        <a:t>Појава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F2F2F7"/>
                          </a:solidFill>
                          <a:latin typeface="Arial"/>
                        </a:rPr>
                        <a:t>Праг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1">
                          <a:solidFill>
                            <a:srgbClr val="F2F2F7"/>
                          </a:solidFill>
                          <a:latin typeface="Arial"/>
                        </a:rPr>
                        <a:t>Одзив</a:t>
                      </a:r>
                    </a:p>
                  </a:txBody>
                  <a:tcPr marL="76200" marR="76200" marT="25400" marB="25400" anchor="ctr">
                    <a:solidFill>
                      <a:srgbClr val="202028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Мрак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испод 15 lx, одржано 10 s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порука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Треперава светлост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4 промене преко 40 % за 30 s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порука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Бука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преко 50 релативних dB, 15 s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порука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Немирна бука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распон преко 12 релативних dB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порука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Руковање телефоном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2,5 m/s² или 1,0 rad/s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цео екран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l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Учестало руковање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4 подизања за 5 минута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buNone/>
                      </a:pPr>
                      <a:r>
                        <a:rPr sz="1400" b="0">
                          <a:solidFill>
                            <a:srgbClr val="F2F2F7"/>
                          </a:solidFill>
                          <a:latin typeface="Arial"/>
                        </a:rPr>
                        <a:t>цео екран</a:t>
                      </a:r>
                    </a:p>
                  </a:txBody>
                  <a:tcPr marL="76200" marR="76200" marT="25400" marB="25400" anchor="ctr">
                    <a:solidFill>
                      <a:srgbClr val="08080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4983480"/>
            <a:ext cx="7132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600" b="0">
                <a:solidFill>
                  <a:srgbClr val="F2F2F7"/>
                </a:solidFill>
                <a:latin typeface="Arial"/>
              </a:rPr>
              <a:t>Чувају се измерене вредности, а не закључци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300" b="0">
                <a:solidFill>
                  <a:srgbClr val="8E8E93"/>
                </a:solidFill>
                <a:latin typeface="Arial"/>
              </a:rPr>
              <a:t>праг се може променити, а раније сесије остају упоредиве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600" b="0">
                <a:solidFill>
                  <a:srgbClr val="F2F2F7"/>
                </a:solidFill>
                <a:latin typeface="Arial"/>
              </a:rPr>
              <a:t>Током паузе се ништа не оцењује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600" b="0">
                <a:solidFill>
                  <a:srgbClr val="F2F2F7"/>
                </a:solidFill>
                <a:latin typeface="Arial"/>
              </a:rPr>
              <a:t>Свако упозорење има мировање од два минута</a:t>
            </a:r>
          </a:p>
        </p:txBody>
      </p:sp>
      <p:sp>
        <p:nvSpPr>
          <p:cNvPr id="6" name="Rectangle 5"/>
          <p:cNvSpPr/>
          <p:nvPr/>
        </p:nvSpPr>
        <p:spPr>
          <a:xfrm>
            <a:off x="8244840" y="1533344"/>
            <a:ext cx="3352800" cy="4614271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55-rukovanje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609544"/>
            <a:ext cx="3200400" cy="44618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8/15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Оцењивање сесије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118360" y="1583293"/>
            <a:ext cx="7924800" cy="3188493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ijagram-tok-ocenjivanj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0" y="1659493"/>
            <a:ext cx="7772400" cy="303609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937760"/>
            <a:ext cx="56692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700" b="0">
                <a:solidFill>
                  <a:srgbClr val="F2F2F7"/>
                </a:solidFill>
                <a:latin typeface="Arial"/>
              </a:rPr>
              <a:t>Језички модел Gemini 3.6 Flash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300" b="0">
                <a:solidFill>
                  <a:srgbClr val="8E8E93"/>
                </a:solidFill>
                <a:latin typeface="Arial"/>
              </a:rPr>
              <a:t>улаз је сажетак сесије, не сирова очитавања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700" b="0">
                <a:solidFill>
                  <a:srgbClr val="F2F2F7"/>
                </a:solidFill>
                <a:latin typeface="Arial"/>
              </a:rPr>
              <a:t>Иста правила описује и локално мерило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300" b="0">
                <a:solidFill>
                  <a:srgbClr val="8E8E93"/>
                </a:solidFill>
                <a:latin typeface="Arial"/>
              </a:rPr>
              <a:t>циљ 60, дисциплина 15, услови 25 поена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4937760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700" b="0">
                <a:solidFill>
                  <a:srgbClr val="F2F2F7"/>
                </a:solidFill>
                <a:latin typeface="Arial"/>
              </a:rPr>
              <a:t>Оцена се добије увек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300" b="0">
                <a:solidFill>
                  <a:srgbClr val="8E8E93"/>
                </a:solidFill>
                <a:latin typeface="Arial"/>
              </a:rPr>
              <a:t>при грешци или без мреже — локално мерило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700" b="0">
                <a:solidFill>
                  <a:srgbClr val="F2F2F7"/>
                </a:solidFill>
                <a:latin typeface="Arial"/>
              </a:rPr>
              <a:t>Оцењивање тече пошто је сесија сачувана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300" b="0">
                <a:solidFill>
                  <a:srgbClr val="8E8E93"/>
                </a:solidFill>
                <a:latin typeface="Arial"/>
              </a:rPr>
              <a:t>спора мрежа не задржава корисника на екрану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Резултат сесије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2480" y="1791950"/>
            <a:ext cx="3261360" cy="3082075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57-rezultat-ai-0.348-0.328-0.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868150"/>
            <a:ext cx="3108960" cy="29296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68680" y="52578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FF5500"/>
                </a:solidFill>
                <a:latin typeface="Arial"/>
              </a:rPr>
              <a:t>оцена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8E8E93"/>
                </a:solidFill>
                <a:latin typeface="Arial"/>
              </a:rPr>
              <a:t>оцена се образлаже, а не саопштава</a:t>
            </a:r>
          </a:p>
        </p:txBody>
      </p:sp>
      <p:sp>
        <p:nvSpPr>
          <p:cNvPr id="7" name="Rectangle 6"/>
          <p:cNvSpPr/>
          <p:nvPr/>
        </p:nvSpPr>
        <p:spPr>
          <a:xfrm>
            <a:off x="4843134" y="1496568"/>
            <a:ext cx="2200931" cy="367284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57-rezultat-uslovi-0.050-0.370-0.1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9334" y="1572768"/>
            <a:ext cx="2048531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0" y="52578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FF5500"/>
                </a:solidFill>
                <a:latin typeface="Arial"/>
              </a:rPr>
              <a:t>услови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8E8E93"/>
                </a:solidFill>
                <a:latin typeface="Arial"/>
              </a:rPr>
              <a:t>свако очитавање стоји уз праг који га је судио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59347" y="1496568"/>
            <a:ext cx="2409386" cy="367284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57-rezultat-prekidi-0.268-0.212-0.1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5547" y="1572768"/>
            <a:ext cx="2256986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5257800"/>
            <a:ext cx="31089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700" b="1">
                <a:solidFill>
                  <a:srgbClr val="FF5500"/>
                </a:solidFill>
                <a:latin typeface="Arial"/>
              </a:rPr>
              <a:t>прекиди</a:t>
            </a:r>
          </a:p>
          <a:p>
            <a:pPr algn="ctr">
              <a:lnSpc>
                <a:spcPct val="110000"/>
              </a:lnSpc>
              <a:spcBef>
                <a:spcPts val="500"/>
              </a:spcBef>
              <a:buNone/>
            </a:pPr>
            <a:r>
              <a:rPr sz="1400" b="0">
                <a:solidFill>
                  <a:srgbClr val="8E8E93"/>
                </a:solidFill>
                <a:latin typeface="Arial"/>
              </a:rPr>
              <a:t>броје се и именују, али никад не улазе у оцену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10/15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Заказивање и подсетници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783080"/>
            <a:ext cx="71323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Заказивање уз проверу преклапања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заузеће се рачуна из циља и планираних пауза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Три тачна подсетника по сесији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сат раније, пет минута раније и на почетку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Тачан аларм, а не одложив посао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AlarmManager, јер WorkManager систем сме да одложи и за двадесет минута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900" b="0">
                <a:solidFill>
                  <a:srgbClr val="F2F2F7"/>
                </a:solidFill>
                <a:latin typeface="Arial"/>
              </a:rPr>
              <a:t>Подсетници се поново заказују после рестарта телефона</a:t>
            </a:r>
          </a:p>
          <a:p>
            <a:pPr marL="533400" indent="-279400">
              <a:lnSpc>
                <a:spcPct val="105000"/>
              </a:lnSpc>
              <a:spcBef>
                <a:spcPts val="500"/>
              </a:spcBef>
              <a:buClr>
                <a:srgbClr val="48484A"/>
              </a:buClr>
              <a:buFont typeface="Arial"/>
              <a:buChar char="–"/>
            </a:pPr>
            <a:r>
              <a:rPr sz="1500" b="0">
                <a:solidFill>
                  <a:srgbClr val="8E8E93"/>
                </a:solidFill>
                <a:latin typeface="Arial"/>
              </a:rPr>
              <a:t>систем при гашењу брише све заказане аларме</a:t>
            </a:r>
          </a:p>
        </p:txBody>
      </p:sp>
      <p:sp>
        <p:nvSpPr>
          <p:cNvPr id="5" name="Rectangle 4"/>
          <p:cNvSpPr/>
          <p:nvPr/>
        </p:nvSpPr>
        <p:spPr>
          <a:xfrm>
            <a:off x="8729788" y="1478280"/>
            <a:ext cx="2382904" cy="472440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58-zakazana-detalj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05988" y="1554480"/>
            <a:ext cx="2230504" cy="457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ФУНКЦИОНАЛНОСТИ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Историја и извештај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83123" y="1524000"/>
            <a:ext cx="2337274" cy="463296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59-istorija-sve-0.045-0.030-0.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9323" y="1600200"/>
            <a:ext cx="2184874" cy="44805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948298" y="1661160"/>
            <a:ext cx="3270763" cy="435864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510-izvestaj-obrnu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498" y="1737360"/>
            <a:ext cx="3118363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869680" y="1920240"/>
            <a:ext cx="265176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600" b="0">
                <a:solidFill>
                  <a:srgbClr val="F2F2F7"/>
                </a:solidFill>
                <a:latin typeface="Arial"/>
              </a:rPr>
              <a:t>Филтрирање по категорији и теми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600" b="0">
                <a:solidFill>
                  <a:srgbClr val="F2F2F7"/>
                </a:solidFill>
                <a:latin typeface="Arial"/>
              </a:rPr>
              <a:t>Просеци по темама откривају образац</a:t>
            </a:r>
          </a:p>
          <a:p>
            <a:pPr marL="279400" indent="-279400">
              <a:lnSpc>
                <a:spcPct val="105000"/>
              </a:lnSpc>
              <a:spcBef>
                <a:spcPts val="1300"/>
              </a:spcBef>
              <a:buClr>
                <a:srgbClr val="FF5500"/>
              </a:buClr>
              <a:buFont typeface="Arial"/>
              <a:buChar char="▪"/>
            </a:pPr>
            <a:r>
              <a:rPr sz="1600" b="0">
                <a:solidFill>
                  <a:srgbClr val="F2F2F7"/>
                </a:solidFill>
                <a:latin typeface="Arial"/>
              </a:rPr>
              <a:t>Извештај се чува као текстуална датотека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ПРОВЕРА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Тестирање и верификација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83080"/>
            <a:ext cx="2587752" cy="306324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83080"/>
            <a:ext cx="2587752" cy="402336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9280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Логика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350008"/>
            <a:ext cx="225856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мерило оцењивања и распоред пауза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преклапања термина и прагови упозорења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не тражи уређај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4279392"/>
            <a:ext cx="22585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170 јединичних тестова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783080"/>
            <a:ext cx="2587752" cy="306324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29000" y="1783080"/>
            <a:ext cx="2587752" cy="402336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93592" y="189280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База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93592" y="2350008"/>
            <a:ext cx="225856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уписи, измене и каскадна брисања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прелази између верзија базе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извршава се на уређају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4279392"/>
            <a:ext cx="22585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8 инструментисаних тестова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783080"/>
            <a:ext cx="2587752" cy="306324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783080"/>
            <a:ext cx="2587752" cy="402336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6792" y="189280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Сензори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350008"/>
            <a:ext cx="225856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вредности се убацују у емулатор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проверено свих шест упозорења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микрофон само на правом уређају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4279392"/>
            <a:ext cx="22585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ручна провера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400" y="1783080"/>
            <a:ext cx="2587752" cy="306324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1783080"/>
            <a:ext cx="2587752" cy="402336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1892808"/>
            <a:ext cx="225856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Корисници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79992" y="2350008"/>
            <a:ext cx="2258568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два круга, на сопственим телефонима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друго коло над исправљеном верзијом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200" b="0">
                <a:solidFill>
                  <a:srgbClr val="F2F2F7"/>
                </a:solidFill>
                <a:latin typeface="Arial"/>
              </a:rPr>
              <a:t>четири примедбе ушле у решење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79992" y="4279392"/>
            <a:ext cx="22585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5 па 10 корисника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25780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500" b="0">
                <a:solidFill>
                  <a:srgbClr val="FF5500"/>
                </a:solidFill>
                <a:latin typeface="Arial"/>
              </a:rPr>
              <a:t>Спремиште је јавно, па се свака бројка проверава једном командом.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200" b="1">
                <a:solidFill>
                  <a:srgbClr val="FF5500"/>
                </a:solidFill>
                <a:latin typeface="Arial"/>
              </a:rPr>
              <a:t>ОСВРТ</a:t>
            </a:r>
          </a:p>
          <a:p>
            <a:pPr>
              <a:spcBef>
                <a:spcPts val="400"/>
              </a:spcBef>
              <a:buNone/>
            </a:pPr>
            <a:r>
              <a:rPr sz="3000" b="1">
                <a:solidFill>
                  <a:srgbClr val="F2F2F7"/>
                </a:solidFill>
                <a:latin typeface="Arial"/>
              </a:rPr>
              <a:t>Закључак и даљи рад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98448"/>
            <a:ext cx="1005840" cy="381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" y="1737360"/>
            <a:ext cx="3483864" cy="297180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85800" y="1737360"/>
            <a:ext cx="3483864" cy="402336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0392" y="184708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ШТА ЈЕ РАЂЕНО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304288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апликација за фокус сесије са циљем и паузама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мерење осветљења, буке и руковања телефоном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оцењивање сесије језичким моделом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заказивање уз тачне подсетнике</a:t>
            </a:r>
          </a:p>
        </p:txBody>
      </p:sp>
      <p:sp>
        <p:nvSpPr>
          <p:cNvPr id="8" name="Rectangle 7"/>
          <p:cNvSpPr/>
          <p:nvPr/>
        </p:nvSpPr>
        <p:spPr>
          <a:xfrm>
            <a:off x="4352544" y="1737360"/>
            <a:ext cx="3483864" cy="297180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52544" y="1737360"/>
            <a:ext cx="3483864" cy="402336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7136" y="184708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ШТА ЈЕ УРАЂЕНО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304288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мерење услова рада и оцена сесије на једном месту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намерно без блокирања и без игрификације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оцена се добије увек, и без мреже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проверено тестовима и са корисницима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19288" y="1737360"/>
            <a:ext cx="3483864" cy="2971800"/>
          </a:xfrm>
          <a:prstGeom prst="rect">
            <a:avLst/>
          </a:prstGeom>
          <a:solidFill>
            <a:srgbClr val="18181E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19288" y="1737360"/>
            <a:ext cx="3483864" cy="402336"/>
          </a:xfrm>
          <a:prstGeom prst="rect">
            <a:avLst/>
          </a:prstGeom>
          <a:solidFill>
            <a:srgbClr val="202028"/>
          </a:solidFill>
          <a:ln w="9525">
            <a:solidFill>
              <a:srgbClr val="2A2A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83880" y="1847088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sz="1300" b="1">
                <a:solidFill>
                  <a:srgbClr val="FF5500"/>
                </a:solidFill>
                <a:latin typeface="Arial"/>
              </a:rPr>
              <a:t>ШТА ДАЉЕ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304288"/>
            <a:ext cx="315468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79400" indent="-279400">
              <a:lnSpc>
                <a:spcPct val="105000"/>
              </a:lnSpc>
              <a:spcBef>
                <a:spcPts val="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развој у дубину, а не у ширину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модел специјализован за психологију фокуса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недељна препорука уместо игрификације</a:t>
            </a:r>
          </a:p>
          <a:p>
            <a:pPr marL="279400" indent="-279400">
              <a:lnSpc>
                <a:spcPct val="105000"/>
              </a:lnSpc>
              <a:spcBef>
                <a:spcPts val="1100"/>
              </a:spcBef>
              <a:buClr>
                <a:srgbClr val="FF5500"/>
              </a:buClr>
              <a:buFont typeface="Arial"/>
              <a:buChar char="▪"/>
            </a:pPr>
            <a:r>
              <a:rPr sz="1400" b="0">
                <a:solidFill>
                  <a:srgbClr val="F2F2F7"/>
                </a:solidFill>
                <a:latin typeface="Arial"/>
              </a:rPr>
              <a:t>сензори свесни онога што се ради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80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FF5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2743200"/>
            <a:ext cx="10820095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4000" b="1">
                <a:solidFill>
                  <a:srgbClr val="F2F2F7"/>
                </a:solidFill>
                <a:latin typeface="Arial"/>
              </a:rPr>
              <a:t>Хвала на пажњи</a:t>
            </a:r>
          </a:p>
          <a:p>
            <a:pPr algn="ctr">
              <a:spcBef>
                <a:spcPts val="1400"/>
              </a:spcBef>
              <a:buNone/>
            </a:pPr>
            <a:r>
              <a:rPr sz="2400" b="0">
                <a:solidFill>
                  <a:srgbClr val="FF5500"/>
                </a:solidFill>
                <a:latin typeface="Arial"/>
              </a:rPr>
              <a:t>Питања?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4846320"/>
            <a:ext cx="1082009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buNone/>
            </a:pPr>
            <a:r>
              <a:rPr sz="1400" b="0">
                <a:solidFill>
                  <a:srgbClr val="8E8E93"/>
                </a:solidFill>
                <a:latin typeface="Arial"/>
              </a:rPr>
              <a:t>github.com/grabad1/pmu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134295" y="6382512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buNone/>
            </a:pPr>
            <a:r>
              <a:rPr sz="1100" b="0">
                <a:solidFill>
                  <a:srgbClr val="48484A"/>
                </a:solidFill>
                <a:latin typeface="Arial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