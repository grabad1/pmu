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95144"/>
            <a:ext cx="1051560" cy="1227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57400" y="86868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1">
                <a:solidFill>
                  <a:srgbClr val="F2F2F7"/>
                </a:solidFill>
                <a:latin typeface="Arial"/>
              </a:rPr>
              <a:t>Електротехнички факултет</a:t>
            </a:r>
          </a:p>
          <a:p>
            <a:pPr>
              <a:spcBef>
                <a:spcPts val="200"/>
              </a:spcBef>
              <a:buNone/>
            </a:pPr>
            <a:r>
              <a:rPr sz="1500" b="0">
                <a:solidFill>
                  <a:srgbClr val="8E8E93"/>
                </a:solidFill>
                <a:latin typeface="Arial"/>
              </a:rPr>
              <a:t>Универзитет у Београду</a:t>
            </a:r>
          </a:p>
          <a:p>
            <a:pPr>
              <a:spcBef>
                <a:spcPts val="1200"/>
              </a:spcBef>
              <a:buNone/>
            </a:pPr>
            <a:r>
              <a:rPr sz="1300" b="1">
                <a:solidFill>
                  <a:srgbClr val="FF5500"/>
                </a:solidFill>
                <a:latin typeface="Arial"/>
              </a:rPr>
              <a:t>Дипломски рад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buNone/>
            </a:pPr>
            <a:r>
              <a:rPr sz="4400" b="1">
                <a:solidFill>
                  <a:srgbClr val="F2F2F7"/>
                </a:solidFill>
                <a:latin typeface="Arial"/>
              </a:rPr>
              <a:t>Мобилна апликација за</a:t>
            </a:r>
          </a:p>
          <a:p>
            <a:pPr>
              <a:lnSpc>
                <a:spcPct val="105000"/>
              </a:lnSpc>
              <a:spcBef>
                <a:spcPts val="0"/>
              </a:spcBef>
              <a:buNone/>
            </a:pPr>
            <a:r>
              <a:rPr sz="4400" b="1">
                <a:solidFill>
                  <a:srgbClr val="F2F2F7"/>
                </a:solidFill>
                <a:latin typeface="Arial"/>
              </a:rPr>
              <a:t>праћење и унапређење фокуса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434840"/>
            <a:ext cx="14630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Кандидат</a:t>
            </a:r>
          </a:p>
          <a:p>
            <a:pPr>
              <a:spcBef>
                <a:spcPts val="300"/>
              </a:spcBef>
              <a:buNone/>
            </a:pPr>
            <a:r>
              <a:rPr sz="1900" b="0">
                <a:solidFill>
                  <a:srgbClr val="F2F2F7"/>
                </a:solidFill>
                <a:latin typeface="Arial"/>
              </a:rPr>
              <a:t>Душан Грабовић, 2022/0099</a:t>
            </a:r>
          </a:p>
          <a:p>
            <a:pPr>
              <a:spcBef>
                <a:spcPts val="140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Ментор</a:t>
            </a:r>
          </a:p>
          <a:p>
            <a:pPr>
              <a:spcBef>
                <a:spcPts val="300"/>
              </a:spcBef>
              <a:buNone/>
            </a:pPr>
            <a:r>
              <a:rPr sz="1900" b="0">
                <a:solidFill>
                  <a:srgbClr val="F2F2F7"/>
                </a:solidFill>
                <a:latin typeface="Arial"/>
              </a:rPr>
              <a:t>проф. др Захарије Радивојевић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8295" y="5806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500" b="0">
                <a:solidFill>
                  <a:srgbClr val="8E8E93"/>
                </a:solidFill>
                <a:latin typeface="Arial"/>
              </a:rPr>
              <a:t>Београд, септембар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Садржај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315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Мотивација и постојећа решења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Предложено решење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Архитектура и коришћене технологије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Ток сесије и праћење услова окружења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Оцењивање сесије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Тестирање и верификација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2200" b="0">
                <a:solidFill>
                  <a:srgbClr val="F2F2F7"/>
                </a:solidFill>
                <a:latin typeface="Arial"/>
              </a:rPr>
              <a:t>Закључак и даљи рад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МОТИВАЦИЈА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Проблем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Прекид кошта више од времена које траје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повратак на задатак тражи знатно дуже од самог прекида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На фокус утиче и просторија, не само садржај на екрану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осветљење, бука и руковање телефоном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Постојећа решења блокирају, али не мере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услови у којима је рад обављен нигде се не бележе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После сесије изостаје повратна информација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„колико сам заиста радио” остаје без одговора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ПРЕГЛЕД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Постојећа решења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5156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760"/>
                <a:gridCol w="1572768"/>
                <a:gridCol w="1572768"/>
                <a:gridCol w="1572768"/>
                <a:gridCol w="1572768"/>
                <a:gridCol w="1572768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Решење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мобилна
платформа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сензори
окружења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оцена по
сесији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објављено
мерило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>
                          <a:solidFill>
                            <a:srgbClr val="F2F2F7"/>
                          </a:solidFill>
                          <a:latin typeface="Arial"/>
                        </a:rPr>
                        <a:t>разликовање
пауза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Forest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Freedom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Digital Wellbeing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Opal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Rize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Endel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FocusCalm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Arial"/>
                        </a:rPr>
                        <a:t>Focusito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F2F2F7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48484A"/>
                          </a:solidFill>
                          <a:latin typeface="Segoe UI Symbol"/>
                        </a:rPr>
                        <a:t>✗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FF5500"/>
                          </a:solidFill>
                          <a:latin typeface="Arial"/>
                        </a:rPr>
                        <a:t>Focus Guard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0D15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0D15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0D15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0D15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30D158"/>
                          </a:solidFill>
                          <a:latin typeface="Segoe UI Symbol"/>
                        </a:rPr>
                        <a:t>✓</a:t>
                      </a:r>
                    </a:p>
                  </a:txBody>
                  <a:tcPr marL="76200" marR="76200" marT="25400" marB="25400" anchor="ctr">
                    <a:solidFill>
                      <a:srgbClr val="2A160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97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0">
                <a:solidFill>
                  <a:srgbClr val="FF5500"/>
                </a:solidFill>
                <a:latin typeface="Arial"/>
              </a:rPr>
              <a:t>Ниједно разматрано решење не спаја мерење услова рада са оценом обављене сесије.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ПРЕДЛОЖЕНО РЕШЕЊЕ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Шта апликација ради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315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Сесија са задатим циљем и планираним паузама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Мерење услова током рада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осветљење, бука и руковање телефоном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Упозорење у тренутку кад услов попусти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а не тек у извештају на крају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Оцена сесије од 0 до 100 са образложењем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оцењује се и окружење, не само истрајано време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Историја, просеци по темама и извештај</a:t>
            </a:r>
          </a:p>
        </p:txBody>
      </p:sp>
      <p:sp>
        <p:nvSpPr>
          <p:cNvPr id="5" name="Rectangle 4"/>
          <p:cNvSpPr/>
          <p:nvPr/>
        </p:nvSpPr>
        <p:spPr>
          <a:xfrm>
            <a:off x="8793270" y="1478280"/>
            <a:ext cx="2255939" cy="47244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4-sesija-u-t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470" y="1554480"/>
            <a:ext cx="210353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РЕШЕЊЕ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Архитектура и технологије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92580"/>
            <a:ext cx="7101840" cy="44958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jagram-arhitek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8780"/>
            <a:ext cx="69494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783080"/>
            <a:ext cx="3566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Kotlin и Jetpack Compose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Hilt, Room и Retrofit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Сесију води сервис у предњем плану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рад се наставља и кад се апликација напусти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Стање се изводи из временских ознака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изостанак откуцаја не помера сат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Ток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00203" y="1524000"/>
            <a:ext cx="1645913" cy="339852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4-sesija-u-to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3" y="1600200"/>
            <a:ext cx="1493513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FF5500"/>
                </a:solidFill>
                <a:latin typeface="Arial"/>
              </a:rPr>
              <a:t>рад у току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8E8E93"/>
                </a:solidFill>
                <a:latin typeface="Arial"/>
              </a:rPr>
              <a:t>циљ и време до следеће паузе стално су видљиви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3" y="1524000"/>
            <a:ext cx="1645913" cy="339852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56-pauza-planir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43" y="1600200"/>
            <a:ext cx="1493513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FF5500"/>
                </a:solidFill>
                <a:latin typeface="Arial"/>
              </a:rPr>
              <a:t>планирана пауза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8E8E93"/>
                </a:solidFill>
                <a:latin typeface="Arial"/>
              </a:rPr>
              <a:t>паузе су распоређене равномерно, на циљ/(n+1)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3" y="1524000"/>
            <a:ext cx="1645913" cy="339852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4-prekoracenj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283" y="1600200"/>
            <a:ext cx="1493513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0292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700" b="1">
                <a:solidFill>
                  <a:srgbClr val="FF5500"/>
                </a:solidFill>
                <a:latin typeface="Arial"/>
              </a:rPr>
              <a:t>прекорачење циља</a:t>
            </a:r>
          </a:p>
          <a:p>
            <a:pPr algn="ctr">
              <a:lnSpc>
                <a:spcPct val="110000"/>
              </a:lnSpc>
              <a:spcBef>
                <a:spcPts val="500"/>
              </a:spcBef>
              <a:buNone/>
            </a:pPr>
            <a:r>
              <a:rPr sz="1400" b="0">
                <a:solidFill>
                  <a:srgbClr val="8E8E93"/>
                </a:solidFill>
                <a:latin typeface="Arial"/>
              </a:rPr>
              <a:t>прелазак преко циља није грешка него успех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500" b="0">
                <a:solidFill>
                  <a:srgbClr val="FF5500"/>
                </a:solidFill>
                <a:latin typeface="Arial"/>
              </a:rPr>
              <a:t>Непланирана пауза се броји засебно и смањује оцену.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Праћење услова окружења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7132320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3200400"/>
                <a:gridCol w="160020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2F2F7"/>
                          </a:solidFill>
                          <a:latin typeface="Arial"/>
                        </a:rPr>
                        <a:t>Појава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2F2F7"/>
                          </a:solidFill>
                          <a:latin typeface="Arial"/>
                        </a:rPr>
                        <a:t>Праг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2F2F7"/>
                          </a:solidFill>
                          <a:latin typeface="Arial"/>
                        </a:rPr>
                        <a:t>Одзив</a:t>
                      </a:r>
                    </a:p>
                  </a:txBody>
                  <a:tcPr marL="76200" marR="76200" marT="25400" marB="25400" anchor="ctr">
                    <a:solidFill>
                      <a:srgbClr val="20202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Мрак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испод 15 lx, одржано 10 s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Треперава светлост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4 промене преко 40 % за 30 s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Бука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преко 50 релативних dB, 15 s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Немирна бука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распон преко 12 релативних dB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порука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Руковање телефоном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2,5 m/s² или 1,0 rad/s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цео екран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Учестало руковање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4 подизања за 5 минута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F2F2F7"/>
                          </a:solidFill>
                          <a:latin typeface="Arial"/>
                        </a:rPr>
                        <a:t>цео екран</a:t>
                      </a:r>
                    </a:p>
                  </a:txBody>
                  <a:tcPr marL="76200" marR="76200" marT="25400" marB="25400" anchor="ctr">
                    <a:solidFill>
                      <a:srgbClr val="0808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983480"/>
            <a:ext cx="7132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Мерено се чува сирово, а не као оцена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Током паузе се ништа не оцењује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Свако упозорење има мировање од два минута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4840" y="1533344"/>
            <a:ext cx="3352800" cy="4614271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55-rukovan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9544"/>
            <a:ext cx="3200400" cy="44618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Оцењивање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18360" y="1583293"/>
            <a:ext cx="7924800" cy="3188493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jagram-tok-ocenjivan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59493"/>
            <a:ext cx="7772400" cy="30360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937760"/>
            <a:ext cx="5669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Језички модел даје оцену, коментар и анализу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улаз је сажетак сесије, не сирова очитавања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Иста правила описује и локално мерило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циљ 60, дисциплина 15, услови 25 поена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93776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Оцена се добије увек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без кључа, без мреже или при грешци — локално мерило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Оцењивање тече пошто је сесија сачувана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спора мрежа не задржава корисника на екрану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Резултат сесије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0770" y="1524000"/>
            <a:ext cx="3824859" cy="463296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kran-rezultat-ai-0.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70" y="1600200"/>
            <a:ext cx="3672459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69330" y="1524000"/>
            <a:ext cx="2097179" cy="463296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kran-detalj-uslo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530" y="1600200"/>
            <a:ext cx="1944779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920240"/>
            <a:ext cx="3657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Три картице: оцена, услови и прекиди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Оцена се образлаже, а не саопштава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Услови се приказују уз праг, па је оцена проверљива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Заказивање и подсетници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7132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Заказивање уз проверу преклапања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заузеће се рачуна из циља и планираних пауза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Три тачна подсетника по сесији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сат раније, пет минута раније и на почетку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AlarmManager, не WorkManager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одложено подсећање изгубило би смисао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Подсетници се обнављају после поновног покретања уређаја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729788" y="1478280"/>
            <a:ext cx="2382904" cy="47244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8-zakazana-detal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988" y="1554480"/>
            <a:ext cx="223050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ФУНКЦИОНАЛНОСТИ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Историја и извештај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3123" y="1524000"/>
            <a:ext cx="2337274" cy="463296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9-istorija-s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323" y="1600200"/>
            <a:ext cx="2184874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48298" y="1661160"/>
            <a:ext cx="3270763" cy="435864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510-izvestaj-obrn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498" y="1737360"/>
            <a:ext cx="3118363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69680" y="1920240"/>
            <a:ext cx="2651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Филтрирање по категорији и теми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Просеци по темама откривају образац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600" b="0">
                <a:solidFill>
                  <a:srgbClr val="F2F2F7"/>
                </a:solidFill>
                <a:latin typeface="Arial"/>
              </a:rPr>
              <a:t>Извештај се чува као текстуална датотека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ПРОВЕРА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Тестирање и верификација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2286000" cy="16002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FF5500"/>
                </a:solidFill>
                <a:latin typeface="Arial"/>
              </a:rPr>
              <a:t>170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јединичних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тестова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691640"/>
            <a:ext cx="2286000" cy="16002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FF5500"/>
                </a:solidFill>
                <a:latin typeface="Arial"/>
              </a:rPr>
              <a:t>8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инструментисаних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тестова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0" y="1691640"/>
            <a:ext cx="2286000" cy="1600200"/>
          </a:xfrm>
          <a:prstGeom prst="rect">
            <a:avLst/>
          </a:prstGeom>
          <a:solidFill>
            <a:srgbClr val="18181E"/>
          </a:solidFill>
          <a:ln w="9525">
            <a:solidFill>
              <a:srgbClr val="2A2A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874519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FF5500"/>
                </a:solidFill>
                <a:latin typeface="Arial"/>
              </a:rPr>
              <a:t>10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корисника у</a:t>
            </a:r>
          </a:p>
          <a:p>
            <a:pPr algn="ctr">
              <a:spcBef>
                <a:spcPts val="100"/>
              </a:spcBef>
              <a:buNone/>
            </a:pPr>
            <a:r>
              <a:rPr sz="1300" b="0">
                <a:solidFill>
                  <a:srgbClr val="8E8E93"/>
                </a:solidFill>
                <a:latin typeface="Arial"/>
              </a:rPr>
              <a:t>другом кругу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Логика независна од уређаја покривена је јединичним тестовима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мерило оцењивања, распоред пауза, преклапања, праг упозорења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База је проверена инструментисаним тестовима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укључујући прелазе између верзија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Сензори су проверени убацивањем вредности у емулатор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микрофон само на правом уређају, јер емулатор даје тишину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700" b="0">
                <a:solidFill>
                  <a:srgbClr val="F2F2F7"/>
                </a:solidFill>
                <a:latin typeface="Arial"/>
              </a:rPr>
              <a:t>Корисничко тестирање у два круга, 5 па 10 корисника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300" b="0">
                <a:solidFill>
                  <a:srgbClr val="8E8E93"/>
                </a:solidFill>
                <a:latin typeface="Arial"/>
              </a:rPr>
              <a:t>четири примедбе ушле су у решење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200" b="1">
                <a:solidFill>
                  <a:srgbClr val="FF5500"/>
                </a:solidFill>
                <a:latin typeface="Arial"/>
              </a:rPr>
              <a:t>ОСВРТ</a:t>
            </a:r>
          </a:p>
          <a:p>
            <a:pPr>
              <a:spcBef>
                <a:spcPts val="400"/>
              </a:spcBef>
              <a:buNone/>
            </a:pPr>
            <a:r>
              <a:rPr sz="3000" b="1">
                <a:solidFill>
                  <a:srgbClr val="F2F2F7"/>
                </a:solidFill>
                <a:latin typeface="Arial"/>
              </a:rPr>
              <a:t>Закључак и даљи рад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1005840" cy="381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05000"/>
              </a:lnSpc>
              <a:spcBef>
                <a:spcPts val="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Спојено је оно што постојећа решења раде одвојено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временски ограничена сесија, мерење услова и оцена са образложењем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Решење припада подручју самопраћења, не мерења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телефон није баждарен инструмент, а скала јачине звука је релативна</a:t>
            </a:r>
          </a:p>
          <a:p>
            <a:pPr marL="279400" indent="-279400">
              <a:lnSpc>
                <a:spcPct val="105000"/>
              </a:lnSpc>
              <a:spcBef>
                <a:spcPts val="1300"/>
              </a:spcBef>
              <a:buClr>
                <a:srgbClr val="FF5500"/>
              </a:buClr>
              <a:buFont typeface="Arial"/>
              <a:buChar char="▪"/>
            </a:pPr>
            <a:r>
              <a:rPr sz="1900" b="0">
                <a:solidFill>
                  <a:srgbClr val="F2F2F7"/>
                </a:solidFill>
                <a:latin typeface="Arial"/>
              </a:rPr>
              <a:t>Даљи рад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провера прагова на правом уређају и калибрација микрофона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уочени обрасци као улаз у оцену</a:t>
            </a:r>
          </a:p>
          <a:p>
            <a:pPr marL="533400" indent="-279400">
              <a:lnSpc>
                <a:spcPct val="105000"/>
              </a:lnSpc>
              <a:spcBef>
                <a:spcPts val="500"/>
              </a:spcBef>
              <a:buClr>
                <a:srgbClr val="48484A"/>
              </a:buClr>
              <a:buFont typeface="Arial"/>
              <a:buChar char="–"/>
            </a:pPr>
            <a:r>
              <a:rPr sz="1500" b="0">
                <a:solidFill>
                  <a:srgbClr val="8E8E93"/>
                </a:solidFill>
                <a:latin typeface="Arial"/>
              </a:rPr>
              <a:t>прилагођавање прагова навикама корисника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F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4000" b="1">
                <a:solidFill>
                  <a:srgbClr val="F2F2F7"/>
                </a:solidFill>
                <a:latin typeface="Arial"/>
              </a:rPr>
              <a:t>Хвала на пажњи</a:t>
            </a:r>
          </a:p>
          <a:p>
            <a:pPr algn="ctr">
              <a:spcBef>
                <a:spcPts val="1400"/>
              </a:spcBef>
              <a:buNone/>
            </a:pPr>
            <a:r>
              <a:rPr sz="2400" b="0">
                <a:solidFill>
                  <a:srgbClr val="FF5500"/>
                </a:solidFill>
                <a:latin typeface="Arial"/>
              </a:rPr>
              <a:t>Питања?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84632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400" b="0">
                <a:solidFill>
                  <a:srgbClr val="8E8E93"/>
                </a:solidFill>
                <a:latin typeface="Arial"/>
              </a:rPr>
              <a:t>github.com/grabad1/pmu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buNone/>
            </a:pPr>
            <a:r>
              <a:rPr sz="1100" b="0">
                <a:solidFill>
                  <a:srgbClr val="48484A"/>
                </a:solidFill>
                <a:latin typeface="Arial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